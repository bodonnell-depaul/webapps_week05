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notesMasterIdLst>
    <p:notesMasterId r:id="rId6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review; source Block A, slide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review; source Block A,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prelecture; source Block A, slide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logistics; source Block A,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7.
SOURCES:
Cloudflare — [Global network](https://www.cloudflare.com/network/)
Amazon — [What is Amazon CloudFront?](https://docs.aws.amazon.com/AmazonCloudFront/latest/DeveloperGuide/Introduction.html)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8.
SOURCES:
Cloudflare — [Global network](https://www.cloudflare.com/network/)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11.
SOURCES:
Netflix — [How Netflix works with ISPs around the globe](https://about.netflix.com/en/news/how-netflix-works-with-isps-around-the-globe-to-deliver-a-great-viewing-experience)
Netflix — [Open Connect overview (PDF)](https://openconnect.netflix.com/Open-Connect-Overview.pdf)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12.
SOURCES:
Apple Developer — [HTTP Live Streaming](https://developer.apple.com/documentation/http-live-streaming)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13.
SOURCES:
Netflix — [Open Connect appliances](https://openconnect.netflix.com/en/appliances/)
Netflix — [Open Connect peering](https://openconnect.netflix.com/en/peering/)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14.
SOURCES:
Netflix — [How Netflix works with ISPs around the globe](https://about.netflix.com/en/news/how-netflix-works-with-isps-around-the-globe-to-deliver-a-great-viewing-experience)
Netflix — [Open Connect](https://openconnect.netflix.com/en/)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15.
SOURCES:
Streaming Media — [Disney Streaming on multi-CDN load balancing](https://www.streamingmedia.com/Articles/ReadArticle.aspx?ArticleID=145721)
Streaming Media — [Disney Streaming on QoE metrics](https://www.streamingmedia.com/Articles/ReadArticle.aspx?ArticleID=150246)
TechCrunch — [How WBD made Max less buggy (2023)](https://techcrunch.com/2023/05/05/warner-bros-discovery-cto-and-cpo-explain-how-they-made-max-less-buggy/)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A, slide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3.
SOURCES:
MDN — [Service Worker API](https://developer.mozilla.org/en-US/docs/Web/API/Service_Worker_API)
Varnish — [Introduction](https://varnish-cache.org/intro/) · Nginx — [`proxy_cache`](https://nginx.org/en/docs/http/ngx_http_proxy_module.html)
USENIX NSDI '13 — [Scaling Memcache at Facebook](https://www.usenix.org/conference/nsdi13/technical-sessions/presentation/nishtala)
AWS — [Caching overview](https://aws.amazon.com/caching/)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6.
SOURCES:
Course — [`react-node-cache` sample](../samples/react-node-cache/README.md)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7.
SOURCES:
Vite — [Building for production](https://vite.dev/guide/build)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8.
SOURCES:
Express 5 — [`express.static` and `res.sendFile`](https://expressjs.com/en/5x/api.html)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10.
SOURCES:
Redis — [Caching](https://redis.io/solutions/caching/) · [Node.js client](https://redis.io/docs/latest/develop/clients/nodejs/)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12.
SOURCES:
TanStack Query — [Caching examples](https://tanstack.com/query/latest/docs/framework/react/guides/caching)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13.
SOURCES:
Course — [`react-node-cache` README](../samples/react-node-cache/README.md)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14.
SOURCES:
Chrome for Developers — [Workbox caching strategies](https://developer.chrome.com/docs/workbox/caching-strategies-overview)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16.
SOURCES:
MDN — [HTTP caching](https://developer.mozilla.org/en-US/docs/Web/HTTP/Guides/Caching)
IETF — [RFC 9111, HTTP Caching](https://www.rfc-editor.org/rfc/rfc9111.html)
Course — [Week 5 reference](../reference.md)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17.
SOURCES:
MDN — [Compression in HTTP](https://developer.mozilla.org/en-US/docs/Web/HTTP/Guides/Compression)
MDN — [Responsive images](https://developer.mozilla.org/en-US/docs/Web/HTML/Guides/Responsive_images)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18.
SOURCES:
Course — [`react-node-cache` sample](../samples/react-node-cache/README.md)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B, slide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3.
SOURCES:
web.dev — [Core Web Vitals](https://web.dev/articles/vitals) · [INP](https://web.dev/articles/inp) · Google — [INP becomes a Core Web Vital](https://web.dev/blog/inp-cwv-launch)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4.
SOURCES:
Chrome — [CrUX methodology: eligibility](https://developer.chrome.com/docs/crux/methodology#eligibility)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6.
PLAIN-TEXT COMMANDS:
Copy from here or the Markdown/HTML source; colored PowerPoint code uses nonbreaking spaces for layout.
Set-Location .\weeks\week05\samples ; node origin.mjs  # Terminal A
$o = 'http://127.0.0.1:8080'                          # Terminal B
curl.exe -sS --noproxy '*' -o NUL -w '%{http_code} ' "$o/slow"
curl.exe -sS --noproxy '*' -o NUL -w "%{http_code}`n" "$o/fast"
# Expect: 200 200
Start-Process "$o/slow"
# Then F12 &gt; Lighthouse &gt; Navigation + Mobile &gt; Analyze.
# Repeat on /fast. Cleanup: Ctrl+C Terminal A when done.
SOURCES:
Course — [`/slow` and `/fast` handlers](../samples/origin.mjs)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7.
PLAIN-TEXT COMMANDS:
Copy from here or the Markdown/HTML source; colored PowerPoint code uses nonbreaking spaces for layout.
cd weeks/week05/samples &amp;&amp; node origin.mjs   # Terminal A
o='http://127.0.0.1:8080'                    # Terminal B
curl -sS --noproxy '*' -o /dev/null -w '%{http_code} ' "$o/slow"
curl -sS --noproxy '*' -o /dev/null -w '%{http_code}\n' "$o/fast"
# Expect: 200 200
open "$o/slow"
# Then Cmd+Opt+I &gt; Lighthouse &gt; Navigation + Mobile &gt; Analyze.
# Repeat on /fast. Cleanup: Ctrl-C Terminal A when done.
SOURCES:
Course — [`/slow` and `/fast` handlers](../samples/origin.mjs)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10.
SOURCES:
Deque — [axe-core rule descriptions](https://github.com/dequelabs/axe-core/blob/develop/doc/rule-descriptions.md)
W3C WAI — [How to Meet WCAG 2.2](https://www.w3.org/WAI/WCAG22/quickref/)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11.
SOURCES:
Course — [the planted defects](../samples/origin.mjs) · [lab §5](../lab.md)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12.
PLAIN-TEXT COMMANDS:
Copy from here or the Markdown/HTML source; colored PowerPoint code uses nonbreaking spaces for layout.
$a = 'http://127.0.0.1:8080/a11y'
$chrome = Join-Path $env:ProgramFiles 'Google\Chrome\Application\chrome.exe'
curl.exe -sS --noproxy '*' -o NUL -w "a11y=%{http_code}`n" $a
# First npx use needs internet; adjust the browser path if necessary.
npx --yes @axe-core/cli --version
npx --yes @axe-core/cli $a --chrome-path $chrome
Start-Process -FilePath $chrome -ArgumentList $a
SOURCES:
Deque — [axe-core CLI](https://github.com/dequelabs/axe-core-npm/tree/develop/packages/cli)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13.
PLAIN-TEXT COMMANDS:
Copy from here or the Markdown/HTML source; colored PowerPoint code uses nonbreaking spaces for layout.
a='http://127.0.0.1:8080/a11y'
chrome_dir='/Applications/Google Chrome.app/Contents/MacOS'
chrome="$chrome_dir/Google Chrome"
curl -sS --noproxy '*' -o /dev/null -w 'a11y=%{http_code}\n' "$a"
# First npx use needs internet; adjust the browser path if necessary.
npx --yes @axe-core/cli --version
npx --yes @axe-core/cli "$a" --chrome-path "$chrome"
open -a "Google Chrome" "$a"
SOURCES:
Deque — [axe-core CLI](https://github.com/dequelabs/axe-core-npm/tree/develop/packages/cli)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15.
SOURCES:
W3C WAI — [Keyboard accessibility](https://www.w3.org/WAI/perspective-videos/keyboard/)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18.
PLAIN-TEXT COMMANDS:
Copy from here or the Markdown/HTML source; colored PowerPoint code uses nonbreaking spaces for layout.
Get-Content .\weeks\week05\samples\k6-baseline-summary.txt
Get-Content .\weeks\week05\samples\campuspulse-load-profile.js
# Cleanup: Ctrl+C the origin in Terminal A, and close the tabs
# on /a11y, /slow and /fast. That is the whole cleanup.
# If 8080 looks busy, LOOK - never end what you did not start:
Get-NetTCPConnection -LocalPort 8080 -State Listen -EA Ignore |
  ForEach-Object { Get-Process -Id $_.OwningProcess }
# Busy port? Use the saved captures; leave other processes alone.
SOURCES:
Course — [captured k6 baseline](../samples/k6-baseline-summary.txt) · [load profile](../samples/campuspulse-load-profile.js)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19.
PLAIN-TEXT COMMANDS:
Copy from here or the Markdown/HTML source; colored PowerPoint code uses nonbreaking spaces for layout.
less weeks/week05/samples/k6-baseline-summary.txt      # q quits
less weeks/week05/samples/campuspulse-load-profile.js
# Cleanup: Ctrl-C the origin in Terminal A, and close the tabs
# on /a11y, /slow and /fast. That is the whole cleanup.
# If 8080 looks busy, LOOK - never end what you did not start:
lsof -nP -iTCP:8080 -sTCP:LISTEN
# Busy port? Use the saved captures; leave other processes alone.
SOURCES:
Course — [captured k6 baseline](../samples/k6-baseline-summary.txt) · [load profile](../samples/campuspulse-load-profile.js)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22.
SOURCES:
Google SRE — [Service Level Objectives](https://sre.google/sre-book/service-level-objectives/) · [Alerting on SLOs](https://sre.google/workbook/alerting-on-slos/)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content; source Block C, slide 23.
SOURCES:
Google SRE — [Service Level Objectives](https://sre.google/sre-book/service-level-objectives/)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practice; source Block C, slide 24.
SOURCES:
Course — [Week 5 lab: full commands, expected output, and troubleshooting](../lab.md)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homework; source Block C, slide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DELIVERY: closing; source Block C, slide 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loudflare.com/network/" TargetMode="External"/><Relationship Id="rId2" Type="http://schemas.openxmlformats.org/officeDocument/2006/relationships/hyperlink" Target="https://docs.aws.amazon.com/AmazonCloudFront/latest/DeveloperGuide/Introduction.htm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cloudflare.com/network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bout.netflix.com/en/news/how-netflix-works-with-isps-around-the-globe-to-deliver-a-great-viewing-experience" TargetMode="External"/><Relationship Id="rId4" Type="http://schemas.openxmlformats.org/officeDocument/2006/relationships/hyperlink" Target="https://openconnect.netflix.com/Open-Connect-Overview.pdf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apple.com/documentation/http-live-stream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onnect.netflix.com/en/appliances/" TargetMode="External"/><Relationship Id="rId4" Type="http://schemas.openxmlformats.org/officeDocument/2006/relationships/hyperlink" Target="https://openconnect.netflix.com/en/peering/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about.netflix.com/en/news/how-netflix-works-with-isps-around-the-globe-to-deliver-a-great-viewing-experience" TargetMode="External"/><Relationship Id="rId2" Type="http://schemas.openxmlformats.org/officeDocument/2006/relationships/hyperlink" Target="https://openconnect.netflix.com/en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reamingmedia.com/Articles/ReadArticle.aspx?ArticleID=145721" TargetMode="External"/><Relationship Id="rId2" Type="http://schemas.openxmlformats.org/officeDocument/2006/relationships/hyperlink" Target="https://www.streamingmedia.com/Articles/ReadArticle.aspx?ArticleID=150246" TargetMode="External"/><Relationship Id="rId3" Type="http://schemas.openxmlformats.org/officeDocument/2006/relationships/hyperlink" Target="https://techcrunch.com/2023/05/05/warner-bros-discovery-cto-and-cpo-explain-how-they-made-max-less-buggy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API/Service_Worker_API" TargetMode="External"/><Relationship Id="rId2" Type="http://schemas.openxmlformats.org/officeDocument/2006/relationships/hyperlink" Target="https://varnish-cache.org/intro/" TargetMode="External"/><Relationship Id="rId3" Type="http://schemas.openxmlformats.org/officeDocument/2006/relationships/hyperlink" Target="https://nginx.org/en/docs/http/ngx_http_proxy_module.html" TargetMode="External"/><Relationship Id="rId4" Type="http://schemas.openxmlformats.org/officeDocument/2006/relationships/hyperlink" Target="https://www.usenix.org/conference/nsdi13/technical-sessions/presentation/nishtala" TargetMode="External"/><Relationship Id="rId5" Type="http://schemas.openxmlformats.org/officeDocument/2006/relationships/hyperlink" Target="https://aws.amazon.com/caching/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../samples/react-node-cache/README.md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vite.dev/guide/buil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expressjs.com/en/5x/api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redis.io/solutions/caching/" TargetMode="External"/><Relationship Id="rId2" Type="http://schemas.openxmlformats.org/officeDocument/2006/relationships/hyperlink" Target="https://redis.io/docs/latest/develop/clients/nodejs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tanstack.com/query/latest/docs/framework/react/guides/cachin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../samples/react-node-cache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chrome.com/docs/workbox/caching-strategies-overvie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HTTP/Guides/Caching" TargetMode="External"/><Relationship Id="rId2" Type="http://schemas.openxmlformats.org/officeDocument/2006/relationships/hyperlink" Target="https://www.rfc-editor.org/rfc/rfc9111.html" TargetMode="External"/><Relationship Id="rId3" Type="http://schemas.openxmlformats.org/officeDocument/2006/relationships/hyperlink" Target="../reference.md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HTTP/Guides/Compression" TargetMode="External"/><Relationship Id="rId2" Type="http://schemas.openxmlformats.org/officeDocument/2006/relationships/hyperlink" Target="https://developer.mozilla.org/en-US/docs/Web/HTML/Guides/Responsive_image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../samples/react-node-cache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hyperlink" Target="https://web.dev/articles/vitals" TargetMode="External"/><Relationship Id="rId2" Type="http://schemas.openxmlformats.org/officeDocument/2006/relationships/hyperlink" Target="https://web.dev/articles/inp" TargetMode="External"/><Relationship Id="rId3" Type="http://schemas.openxmlformats.org/officeDocument/2006/relationships/hyperlink" Target="https://web.dev/blog/inp-cwv-launch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chrome.com/docs/crux/methodology#eligibil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hyperlink" Target="../samples/origin.mj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hyperlink" Target="../samples/origin.mj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dequelabs/axe-core/blob/develop/doc/rule-descriptions.md" TargetMode="External"/><Relationship Id="rId2" Type="http://schemas.openxmlformats.org/officeDocument/2006/relationships/hyperlink" Target="https://www.w3.org/WAI/WCAG22/quickref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hyperlink" Target="../samples/origin.mjs" TargetMode="External"/><Relationship Id="rId2" Type="http://schemas.openxmlformats.org/officeDocument/2006/relationships/hyperlink" Target="../lab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dequelabs/axe-core-npm/tree/develop/packages/cl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dequelabs/axe-core-npm/tree/develop/packages/cl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w3.org/WAI/perspective-videos/keyboard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hyperlink" Target="../samples/k6-baseline-summary.txt" TargetMode="External"/><Relationship Id="rId2" Type="http://schemas.openxmlformats.org/officeDocument/2006/relationships/hyperlink" Target="../samples/campuspulse-load-profile.j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hyperlink" Target="../samples/k6-baseline-summary.txt" TargetMode="External"/><Relationship Id="rId2" Type="http://schemas.openxmlformats.org/officeDocument/2006/relationships/hyperlink" Target="../samples/campuspulse-load-profile.j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hyperlink" Target="https://sre.google/sre-book/service-level-objectives/" TargetMode="External"/><Relationship Id="rId2" Type="http://schemas.openxmlformats.org/officeDocument/2006/relationships/hyperlink" Target="https://sre.google/workbook/alerting-on-slos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hyperlink" Target="https://sre.google/sre-book/service-level-objectives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hyperlink" Target="../lab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hyperlink" Target="../homework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hyperlink" Target="../../../midterm/blueprint.md" TargetMode="External"/><Relationship Id="rId2" Type="http://schemas.openxmlformats.org/officeDocument/2006/relationships/hyperlink" Target="../../../midterm/practice-case.md" TargetMode="External"/><Relationship Id="rId3" Type="http://schemas.openxmlformats.org/officeDocument/2006/relationships/hyperlink" Target="../../week06/prep.md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Short review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67640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038350"/>
            <a:ext cx="10287000" cy="15508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48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Delivery, Caching, and What the User Actually Experiences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85800" y="3703472"/>
            <a:ext cx="9525000" cy="11733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3985"/>
              </a:lnSpc>
              <a:buNone/>
            </a:pPr>
            <a:r>
              <a:rPr lang="en-US" sz="25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Review, preparation, logistics, teaching, individual practice, and the end-of-class brief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85800" y="4991100"/>
            <a:ext cx="2581275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991100"/>
            <a:ext cx="258127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5 · Full session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381375" y="4991100"/>
            <a:ext cx="1533525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1375" y="4991100"/>
            <a:ext cx="153352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 minutes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0" y="4991100"/>
            <a:ext cx="2266950" cy="381000"/>
          </a:xfrm>
          <a:prstGeom prst="roundRect">
            <a:avLst>
              <a:gd name="adj" fmla="val 120000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4991100"/>
            <a:ext cx="22669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Updated 2026-10-04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Short review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HW4 site lives in one place. Your users do not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4198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6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HW4 gave you</a:t>
            </a:r>
            <a:endParaRPr lang="en-US" sz="2160" dirty="0"/>
          </a:p>
        </p:txBody>
      </p:sp>
      <p:sp>
        <p:nvSpPr>
          <p:cNvPr id="8" name="Text 6"/>
          <p:cNvSpPr/>
          <p:nvPr/>
        </p:nvSpPr>
        <p:spPr>
          <a:xfrm>
            <a:off x="685800" y="2945679"/>
            <a:ext cx="5219700" cy="2768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own domain, live, over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pipeline that deploys and can roll back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container answering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/healthz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in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region</a:t>
            </a:r>
            <a:endParaRPr lang="en-US" sz="2304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4198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6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today adds</a:t>
            </a:r>
            <a:endParaRPr lang="en-US" sz="2160" dirty="0"/>
          </a:p>
        </p:txBody>
      </p:sp>
      <p:sp>
        <p:nvSpPr>
          <p:cNvPr id="10" name="Text 8"/>
          <p:cNvSpPr/>
          <p:nvPr/>
        </p:nvSpPr>
        <p:spPr>
          <a:xfrm>
            <a:off x="6286500" y="2945679"/>
            <a:ext cx="5219700" cy="2768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layer of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copies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between your users and that one container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Those copies live in hundreds of buildings, near people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Deciding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may be copied is a design job — and a security one</a:t>
            </a:r>
            <a:endParaRPr lang="en-US" sz="230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Prelecture review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11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36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 debrief: what the readings should have left you with</a:t>
            </a:r>
            <a:endParaRPr lang="en-US" sz="3360" dirty="0"/>
          </a:p>
        </p:txBody>
      </p:sp>
      <p:sp>
        <p:nvSpPr>
          <p:cNvPr id="7" name="Text 5"/>
          <p:cNvSpPr/>
          <p:nvPr/>
        </p:nvSpPr>
        <p:spPr>
          <a:xfrm>
            <a:off x="685800" y="2118848"/>
            <a:ext cx="10820400" cy="2383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Q1: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CDN is a fleet of caching servers in many cities; a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one of those sites</a:t>
            </a:r>
            <a:endParaRPr lang="en-US" sz="1920" dirty="0"/>
          </a:p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Q2: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Netflix's Open Connect places its own servers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inside ISP networks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free to the ISP</a:t>
            </a:r>
            <a:endParaRPr lang="en-US" sz="1920" dirty="0"/>
          </a:p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 — hands up first: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does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no-cache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mean "do not cache"? No. It means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before reuse</a:t>
            </a:r>
            <a:endParaRPr lang="en-US" sz="1920" dirty="0"/>
          </a:p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Q4: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three Core Web Vitals are LCP, INP, CLS — 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 replaced FID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Char char="▪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March 2024</a:t>
            </a:r>
            <a:endParaRPr lang="en-US" sz="1920" dirty="0"/>
          </a:p>
        </p:txBody>
      </p:sp>
      <p:sp>
        <p:nvSpPr>
          <p:cNvPr id="8" name="Shape 6"/>
          <p:cNvSpPr/>
          <p:nvPr/>
        </p:nvSpPr>
        <p:spPr>
          <a:xfrm>
            <a:off x="685800" y="4609064"/>
            <a:ext cx="10820400" cy="1278770"/>
          </a:xfrm>
          <a:prstGeom prst="roundRect">
            <a:avLst>
              <a:gd name="adj" fmla="val 3575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609064"/>
            <a:ext cx="76200" cy="127877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723364"/>
            <a:ext cx="10363200" cy="259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20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914400" y="5020544"/>
            <a:ext cx="10363200" cy="714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80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prep gave you vocabulary. Class time gives you the map: where copies live, who owns them, and what goes wrong when the wrong thing is copied.</a:t>
            </a:r>
            <a:endParaRPr lang="en-US" sz="180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Weekly logistics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today runs, and what you need on hand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41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1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180 minutes</a:t>
            </a:r>
            <a:endParaRPr lang="en-US" sz="2115" dirty="0"/>
          </a:p>
        </p:txBody>
      </p:sp>
      <p:sp>
        <p:nvSpPr>
          <p:cNvPr id="8" name="Text 6"/>
          <p:cNvSpPr/>
          <p:nvPr/>
        </p:nvSpPr>
        <p:spPr>
          <a:xfrm>
            <a:off x="685800" y="2936552"/>
            <a:ext cx="5219700" cy="28562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A (30) → checkpoint (10)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B (30) → checkpoint (10)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 (10)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hard stop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C (25) → checkpoint (10)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lab (35), then the HW5 brief and exit ticket</a:t>
            </a:r>
            <a:endParaRPr lang="en-US" sz="2256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41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1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ready, right now</a:t>
            </a:r>
            <a:endParaRPr lang="en-US" sz="2115" dirty="0"/>
          </a:p>
        </p:txBody>
      </p:sp>
      <p:sp>
        <p:nvSpPr>
          <p:cNvPr id="10" name="Text 8"/>
          <p:cNvSpPr/>
          <p:nvPr/>
        </p:nvSpPr>
        <p:spPr>
          <a:xfrm>
            <a:off x="6286500" y="2936552"/>
            <a:ext cx="5219700" cy="2713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browser — the first demo is in about eight minutes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 24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this week's 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samples/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Block B and the lab</a:t>
            </a:r>
            <a:endParaRPr lang="en-US" sz="2256" dirty="0"/>
          </a:p>
          <a:p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HW4 deployment</a:t>
            </a:r>
            <a:pPr algn="l" marL="342900" indent="-342900">
              <a:lnSpc>
                <a:spcPct val="105263"/>
              </a:lnSpc>
              <a:spcAft>
                <a:spcPts val="564"/>
              </a:spcAft>
              <a:buSzPct val="100000"/>
              <a:buChar char="▪"/>
            </a:pPr>
            <a:r>
              <a:rPr lang="en-US" sz="225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 free CDN account for the homework</a:t>
            </a:r>
            <a:endParaRPr lang="en-US" sz="225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problems no amount of server tuning fixes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416150"/>
            <a:ext cx="10820400" cy="1009855"/>
          </a:xfrm>
          <a:prstGeom prst="roundRect">
            <a:avLst>
              <a:gd name="adj" fmla="val 4527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416150"/>
            <a:ext cx="76200" cy="1009855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30450"/>
            <a:ext cx="10363200" cy="2785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19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19" dirty="0"/>
          </a:p>
        </p:txBody>
      </p:sp>
      <p:sp>
        <p:nvSpPr>
          <p:cNvPr id="10" name="Text 8"/>
          <p:cNvSpPr/>
          <p:nvPr/>
        </p:nvSpPr>
        <p:spPr>
          <a:xfrm>
            <a:off x="914400" y="2847061"/>
            <a:ext cx="10363200" cy="42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94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both: </a:t>
            </a:r>
            <a:pPr algn="l" indent="0" marL="0">
              <a:lnSpc>
                <a:spcPct val="102256"/>
              </a:lnSpc>
              <a:buNone/>
            </a:pPr>
            <a:r>
              <a:rPr lang="en-US" sz="194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copies of popular bytes close to the people asking.</a:t>
            </a:r>
            <a:pPr algn="l" indent="0" marL="0">
              <a:lnSpc>
                <a:spcPct val="102256"/>
              </a:lnSpc>
              <a:buNone/>
            </a:pPr>
            <a:r>
              <a:rPr lang="en-US" sz="194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That is a CDN.</a:t>
            </a:r>
            <a:endParaRPr lang="en-US" sz="1940" dirty="0"/>
          </a:p>
        </p:txBody>
      </p:sp>
      <p:sp>
        <p:nvSpPr>
          <p:cNvPr id="11" name="Text 9"/>
          <p:cNvSpPr/>
          <p:nvPr/>
        </p:nvSpPr>
        <p:spPr>
          <a:xfrm>
            <a:off x="685800" y="3595169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Distance</a:t>
            </a:r>
            <a:endParaRPr lang="en-US" sz="1755" dirty="0"/>
          </a:p>
        </p:txBody>
      </p:sp>
      <p:sp>
        <p:nvSpPr>
          <p:cNvPr id="12" name="Text 10"/>
          <p:cNvSpPr/>
          <p:nvPr/>
        </p:nvSpPr>
        <p:spPr>
          <a:xfrm>
            <a:off x="685800" y="4042556"/>
            <a:ext cx="5219700" cy="16011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 in fiber: about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 km/s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Sydney ↔ Virginia: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 160 ms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per round trip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page load needs several round trips</a:t>
            </a:r>
            <a:endParaRPr lang="en-US" sz="1872" dirty="0"/>
          </a:p>
        </p:txBody>
      </p:sp>
      <p:sp>
        <p:nvSpPr>
          <p:cNvPr id="13" name="Text 11"/>
          <p:cNvSpPr/>
          <p:nvPr/>
        </p:nvSpPr>
        <p:spPr>
          <a:xfrm>
            <a:off x="6286500" y="3595169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Crowds</a:t>
            </a:r>
            <a:endParaRPr lang="en-US" sz="1755" dirty="0"/>
          </a:p>
        </p:txBody>
      </p:sp>
      <p:sp>
        <p:nvSpPr>
          <p:cNvPr id="14" name="Text 12"/>
          <p:cNvSpPr/>
          <p:nvPr/>
        </p:nvSpPr>
        <p:spPr>
          <a:xfrm>
            <a:off x="6286500" y="4042556"/>
            <a:ext cx="5219700" cy="19339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p.m. premiere: millions press play at once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origin has one set of network links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 requests for the same bytes waste work</a:t>
            </a:r>
            <a:endParaRPr lang="en-US" sz="1872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CDN puts a copy one short hop from each user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31616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577840"/>
            <a:ext cx="10820400" cy="403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CDN every request crosses the ocean. With one, only cache misses do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533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9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your request finds the nearest PoP</a:t>
            </a:r>
            <a:endParaRPr lang="en-US" sz="3696" dirty="0"/>
          </a:p>
        </p:txBody>
      </p:sp>
      <p:sp>
        <p:nvSpPr>
          <p:cNvPr id="7" name="Text 5"/>
          <p:cNvSpPr/>
          <p:nvPr/>
        </p:nvSpPr>
        <p:spPr>
          <a:xfrm>
            <a:off x="685800" y="1668286"/>
            <a:ext cx="10820400" cy="38733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of presence (PoP)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a rack of servers in a building where many networks meet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Big CDNs run hundreds of PoPs; Cloudflare lists data centers in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330+ cities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Anycast: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every PoP announces the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IP address; internet routing delivers you to a nearby one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steering: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CDN's DNS answers with the address of a PoP chosen for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PoP has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own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cache — "it's cached" is never a global statement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miss, PoPs often ask a regional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shield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cache first, so the origin sees one request, not hundreds</a:t>
            </a:r>
            <a:endParaRPr lang="en-US" sz="2112" dirty="0"/>
          </a:p>
        </p:txBody>
      </p:sp>
      <p:sp>
        <p:nvSpPr>
          <p:cNvPr id="8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Cloudflare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network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Amazon CloudFront?</a:t>
            </a:r>
            <a:endParaRPr lang="en-US" sz="12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876300"/>
            <a:ext cx="2000250" cy="400050"/>
          </a:xfrm>
          <a:prstGeom prst="roundRect">
            <a:avLst>
              <a:gd name="adj" fmla="val 114286"/>
            </a:avLst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876300"/>
            <a:ext cx="20002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2A1F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 LIVE DEMO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428750"/>
            <a:ext cx="10820400" cy="6405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1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Demo: which PoP is serving you right now?</a:t>
            </a:r>
            <a:endParaRPr lang="en-US" sz="3612" dirty="0"/>
          </a:p>
        </p:txBody>
      </p:sp>
      <p:sp>
        <p:nvSpPr>
          <p:cNvPr id="9" name="Shape 7"/>
          <p:cNvSpPr/>
          <p:nvPr/>
        </p:nvSpPr>
        <p:spPr>
          <a:xfrm>
            <a:off x="685800" y="2183583"/>
            <a:ext cx="5238750" cy="3531417"/>
          </a:xfrm>
          <a:prstGeom prst="roundRect">
            <a:avLst>
              <a:gd name="adj" fmla="val 1295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" y="229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THIS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914400" y="2640783"/>
            <a:ext cx="4781550" cy="27282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1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1"/>
            </a:pPr>
            <a:r>
              <a:rPr lang="en-US" sz="196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https://www.cloudflare.com/cdn-cgi/trace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1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any browser</a:t>
            </a:r>
            <a:endParaRPr lang="en-US" sz="1968" dirty="0"/>
          </a:p>
          <a:p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the 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colo=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line — an airport code (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2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Chicago O'Hare)</a:t>
            </a:r>
            <a:endParaRPr lang="en-US" sz="1968" dirty="0"/>
          </a:p>
          <a:p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3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it on your phone with Wi-Fi 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3"/>
            </a:pPr>
            <a:r>
              <a:rPr lang="en-US" sz="196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</a:t>
            </a:r>
            <a:pPr algn="l" marL="342900" indent="-342900">
              <a:lnSpc>
                <a:spcPct val="105263"/>
              </a:lnSpc>
              <a:spcAft>
                <a:spcPts val="492"/>
              </a:spcAft>
              <a:buSzPct val="100000"/>
              <a:buFont typeface="+mj-lt"/>
              <a:buAutoNum type="arabicPeriod" startAt="3"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then compare with a neighbor</a:t>
            </a:r>
            <a:endParaRPr lang="en-US" sz="1968" dirty="0"/>
          </a:p>
        </p:txBody>
      </p:sp>
      <p:sp>
        <p:nvSpPr>
          <p:cNvPr id="12" name="Shape 10"/>
          <p:cNvSpPr/>
          <p:nvPr/>
        </p:nvSpPr>
        <p:spPr>
          <a:xfrm>
            <a:off x="6267450" y="2183583"/>
            <a:ext cx="5238750" cy="1977594"/>
          </a:xfrm>
          <a:prstGeom prst="roundRect">
            <a:avLst>
              <a:gd name="adj" fmla="val 2312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29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6496050" y="2640783"/>
            <a:ext cx="4781550" cy="1392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Laptops on campus Wi-Fi show the same code; a phone on cellular may differ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ip=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shows the address the PoP saw;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http=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shows the HTTP version used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267450" y="4351676"/>
            <a:ext cx="5238750" cy="1363324"/>
          </a:xfrm>
          <a:prstGeom prst="roundRect">
            <a:avLst>
              <a:gd name="adj" fmla="val 3354"/>
            </a:avLst>
          </a:prstGeom>
          <a:solidFill>
            <a:srgbClr val="2C241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7000" y="4465976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IT FAILS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6496050" y="4808876"/>
            <a:ext cx="4781550" cy="738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captured trace in the speaker notes aloud and point at </a:t>
            </a:r>
            <a:pPr algn="l" indent="0" marL="0">
              <a:lnSpc>
                <a:spcPct val="102256"/>
              </a:lnSpc>
              <a:buNone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colo=</a:t>
            </a:r>
            <a:pPr algn="l" indent="0" marL="0">
              <a:lnSpc>
                <a:spcPct val="102256"/>
              </a:lnSpc>
              <a:buNone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872" dirty="0"/>
          </a:p>
        </p:txBody>
      </p:sp>
      <p:sp>
        <p:nvSpPr>
          <p:cNvPr id="18" name="Shape 1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Cloudflare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network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89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modern edge does far more than store files</a:t>
            </a:r>
            <a:endParaRPr lang="en-US" sz="3276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93008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40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Edge service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 for you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Where you meet it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Static caching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Serves JS, CSS, images, video segments from the PoP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CDN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micro-caching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Shares a public JSON answer for a few seconds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 B's /api/status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TLS termination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Finishes the HTTPS handshake near the user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HW4's certificate, now at the edge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Compression and images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Brotli/gzip, resizing, modern image formats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 B, HW5 Task 4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Security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DDoS absorption, WAF rules, bot filtering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Week 8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283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Edge functions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Small programs that run in the PoP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Cloudflare Workers, Lambda@Edge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largest CDN workloads on earth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streaming reaches the world</a:t>
            </a:r>
            <a:endParaRPr lang="en-US" sz="4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systems: the app you browse, and the pipe that plays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26206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036820"/>
            <a:ext cx="10820400" cy="678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everything before you press play runs in the cloud; everything after comes from Open Connect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Netflix works with ISPs around the globe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Connect overview (PDF)</a:t>
            </a:r>
            <a:endParaRPr lang="en-US" sz="12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movie is thousands of small, cacheable files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416150"/>
            <a:ext cx="10820400" cy="1038396"/>
          </a:xfrm>
          <a:prstGeom prst="roundRect">
            <a:avLst>
              <a:gd name="adj" fmla="val 440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416150"/>
            <a:ext cx="76200" cy="1038396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30450"/>
            <a:ext cx="10363200" cy="291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85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85" dirty="0"/>
          </a:p>
        </p:txBody>
      </p:sp>
      <p:sp>
        <p:nvSpPr>
          <p:cNvPr id="10" name="Text 8"/>
          <p:cNvSpPr/>
          <p:nvPr/>
        </p:nvSpPr>
        <p:spPr>
          <a:xfrm>
            <a:off x="914400" y="2860015"/>
            <a:ext cx="10363200" cy="4421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Video becomes ordinary HTTP requests for files that never change.</a:t>
            </a:r>
            <a:endParaRPr lang="en-US" sz="2030" dirty="0"/>
          </a:p>
        </p:txBody>
      </p:sp>
      <p:sp>
        <p:nvSpPr>
          <p:cNvPr id="11" name="Text 9"/>
          <p:cNvSpPr/>
          <p:nvPr/>
        </p:nvSpPr>
        <p:spPr>
          <a:xfrm>
            <a:off x="685800" y="3629805"/>
            <a:ext cx="5219700" cy="317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8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Encode once, many ways</a:t>
            </a:r>
            <a:endParaRPr lang="en-US" sz="1485" dirty="0"/>
          </a:p>
        </p:txBody>
      </p:sp>
      <p:sp>
        <p:nvSpPr>
          <p:cNvPr id="12" name="Text 10"/>
          <p:cNvSpPr/>
          <p:nvPr/>
        </p:nvSpPr>
        <p:spPr>
          <a:xfrm>
            <a:off x="685800" y="4022432"/>
            <a:ext cx="5219700" cy="10872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ladder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versions: 240p up to 4K</a:t>
            </a:r>
            <a:endParaRPr lang="en-US" sz="1584" dirty="0"/>
          </a:p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cut into 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a few seconds</a:t>
            </a:r>
            <a:endParaRPr lang="en-US" sz="1584" dirty="0"/>
          </a:p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manifest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(HLS or DASH) lists the URLs</a:t>
            </a:r>
            <a:endParaRPr lang="en-US" sz="1584" dirty="0"/>
          </a:p>
        </p:txBody>
      </p:sp>
      <p:sp>
        <p:nvSpPr>
          <p:cNvPr id="13" name="Text 11"/>
          <p:cNvSpPr/>
          <p:nvPr/>
        </p:nvSpPr>
        <p:spPr>
          <a:xfrm>
            <a:off x="6286500" y="3629805"/>
            <a:ext cx="5219700" cy="317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48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 adaptively</a:t>
            </a:r>
            <a:endParaRPr lang="en-US" sz="1485" dirty="0"/>
          </a:p>
        </p:txBody>
      </p:sp>
      <p:sp>
        <p:nvSpPr>
          <p:cNvPr id="14" name="Text 12"/>
          <p:cNvSpPr/>
          <p:nvPr/>
        </p:nvSpPr>
        <p:spPr>
          <a:xfrm>
            <a:off x="6286500" y="4022432"/>
            <a:ext cx="5219700" cy="16504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Player reads the manifest, then fetches segments</a:t>
            </a:r>
            <a:endParaRPr lang="en-US" sz="1584" dirty="0"/>
          </a:p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Adaptive bitrate: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slow network → lower rung</a:t>
            </a:r>
            <a:endParaRPr lang="en-US" sz="1584" dirty="0"/>
          </a:p>
          <a:p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never change: </a:t>
            </a:r>
            <a:pPr algn="l" marL="342900" indent="-342900">
              <a:lnSpc>
                <a:spcPct val="105263"/>
              </a:lnSpc>
              <a:spcAft>
                <a:spcPts val="396"/>
              </a:spcAft>
              <a:buSzPct val="100000"/>
              <a:buChar char="▪"/>
            </a:pPr>
            <a:r>
              <a:rPr lang="en-US" sz="158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static, shareable files</a:t>
            </a:r>
            <a:endParaRPr lang="en-US" sz="1584" dirty="0"/>
          </a:p>
        </p:txBody>
      </p:sp>
      <p:sp>
        <p:nvSpPr>
          <p:cNvPr id="15" name="Shape 13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Developer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 Live Streaming</a:t>
            </a:r>
            <a:endParaRPr lang="en-US" sz="12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Netflix Open Connect: the "last mile" is the point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289499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311140"/>
            <a:ext cx="10820400" cy="403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Connect fills appliances off-peak, so the evening rush is served from inside your ISP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Connect appliances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Connect peering</a:t>
            </a:r>
            <a:endParaRPr lang="en-US" sz="12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38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4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Netflix built its own CDN instead of renting one</a:t>
            </a:r>
            <a:endParaRPr lang="en-US" sz="2940" dirty="0"/>
          </a:p>
        </p:txBody>
      </p:sp>
      <p:sp>
        <p:nvSpPr>
          <p:cNvPr id="7" name="Text 5"/>
          <p:cNvSpPr/>
          <p:nvPr/>
        </p:nvSpPr>
        <p:spPr>
          <a:xfrm>
            <a:off x="685800" y="1532786"/>
            <a:ext cx="10820400" cy="27477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Open Connect has carried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Netflix video since it launched (built 2011, announced 2012)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Placement: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close to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that traffic flows over direct connections to residential ISPs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boxes: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qualifying ISPs get appliances at no charge — and stop paying to haul Netflix over transit links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Predictability: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known catalog can be pushed off-peak; a general CDN can only react to requests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Specialization: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per-server throughput grew from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Gbps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(2012) to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 90 Gbps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(2016)</a:t>
            </a:r>
            <a:endParaRPr lang="en-US" sz="1680" dirty="0"/>
          </a:p>
        </p:txBody>
      </p:sp>
      <p:sp>
        <p:nvSpPr>
          <p:cNvPr id="8" name="Shape 6"/>
          <p:cNvSpPr/>
          <p:nvPr/>
        </p:nvSpPr>
        <p:spPr>
          <a:xfrm>
            <a:off x="685800" y="4373903"/>
            <a:ext cx="10820400" cy="1168454"/>
          </a:xfrm>
          <a:prstGeom prst="roundRect">
            <a:avLst>
              <a:gd name="adj" fmla="val 391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373903"/>
            <a:ext cx="76200" cy="1168454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488203"/>
            <a:ext cx="10363200" cy="2266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752998"/>
            <a:ext cx="10363200" cy="6369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579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Netflix's CDN is a partnership with ISPs, not just hardware. Both sides save money, and viewers get a stream that starts one hop from home.</a:t>
            </a:r>
            <a:endParaRPr lang="en-US" sz="1579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Netflix works with ISPs around the globe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Connect</a:t>
            </a:r>
            <a:endParaRPr lang="en-US" sz="12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platforms, three delivery strategies</a:t>
            </a:r>
            <a:endParaRPr lang="en-US" sz="3192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77953"/>
          <a:ext cx="10820400" cy="914400"/>
        </p:xfrm>
        <a:graphic>
          <a:graphicData uri="http://schemas.openxmlformats.org/drawingml/2006/table">
            <a:tbl>
              <a:tblPr/>
              <a:tblGrid>
                <a:gridCol w="2705100"/>
                <a:gridCol w="2705100"/>
                <a:gridCol w="2705100"/>
                <a:gridCol w="2705100"/>
              </a:tblGrid>
              <a:tr h="6335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6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8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Netflix</a:t>
                      </a:r>
                      <a:endParaRPr lang="en-US" sz="136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8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Disney+</a:t>
                      </a:r>
                      <a:endParaRPr lang="en-US" sz="136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68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Max (Warner Bros. Discovery)</a:t>
                      </a:r>
                      <a:endParaRPr lang="en-US" sz="136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922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 delivery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 CDN: Open Connect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Several CDN partners, incl. on-net caches in ISPs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Four commercial CDNs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922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or buy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Builds its own appliances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Rents several; builds its own load balancer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Rents: CloudFront, Google Cloud CDN, Akamai, Fastly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9224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How a CDN is picked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Netflix steers to its own servers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Partners scored on rebuffering, start time, failures, bitrate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Multi-CDN for resilience at more than an exabyte a month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720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AWS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Streaming platform built from BAMTech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82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AWS as primary cloud</a:t>
                      </a:r>
                      <a:endParaRPr lang="en-US" sz="148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 Media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Disney Streaming on multi-CDN load balancing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 Media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Disney Streaming on QoE metrics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TechCrunch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WBD made Max less buggy (2023)</a:t>
            </a:r>
            <a:endParaRPr lang="en-US" sz="127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events break the "copy it in advance" trick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live is hard</a:t>
            </a:r>
            <a:endParaRPr lang="en-US" sz="1755" dirty="0"/>
          </a:p>
        </p:txBody>
      </p:sp>
      <p:sp>
        <p:nvSpPr>
          <p:cNvPr id="8" name="Text 6"/>
          <p:cNvSpPr/>
          <p:nvPr/>
        </p:nvSpPr>
        <p:spPr>
          <a:xfrm>
            <a:off x="685800" y="2863537"/>
            <a:ext cx="5219700" cy="2266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for a live game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did not exist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few seconds ago — nothing to pre-fill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viewer wants the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new segment within the same second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miss at 300 PoPs at once could become 300 requests to the origin</a:t>
            </a:r>
            <a:endParaRPr lang="en-US" sz="1872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industry does</a:t>
            </a:r>
            <a:endParaRPr lang="en-US" sz="1755" dirty="0"/>
          </a:p>
        </p:txBody>
      </p:sp>
      <p:sp>
        <p:nvSpPr>
          <p:cNvPr id="10" name="Text 8"/>
          <p:cNvSpPr/>
          <p:nvPr/>
        </p:nvSpPr>
        <p:spPr>
          <a:xfrm>
            <a:off x="6286500" y="2863537"/>
            <a:ext cx="5219700" cy="29919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collapsing: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PoP sends one origin fetch per segment, the rest wait for it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Shield tiers: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PoPs ask a regional cache, not the origin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manifest TTLs, long segment TTLs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Multi-CDN failover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capacity booked in advance</a:t>
            </a:r>
            <a:endParaRPr lang="en-US" sz="1872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Fictional CampusPulse case: what must never be shared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416150"/>
            <a:ext cx="10820400" cy="1038396"/>
          </a:xfrm>
          <a:prstGeom prst="roundRect">
            <a:avLst>
              <a:gd name="adj" fmla="val 440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416150"/>
            <a:ext cx="76200" cy="1038396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30450"/>
            <a:ext cx="10363200" cy="291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85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85" dirty="0"/>
          </a:p>
        </p:txBody>
      </p:sp>
      <p:sp>
        <p:nvSpPr>
          <p:cNvPr id="10" name="Text 8"/>
          <p:cNvSpPr/>
          <p:nvPr/>
        </p:nvSpPr>
        <p:spPr>
          <a:xfrm>
            <a:off x="914400" y="2860015"/>
            <a:ext cx="10363200" cy="4421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 video segment everywhere; never share a "continue watching" row.</a:t>
            </a:r>
            <a:endParaRPr lang="en-US" sz="2030" dirty="0"/>
          </a:p>
        </p:txBody>
      </p:sp>
      <p:sp>
        <p:nvSpPr>
          <p:cNvPr id="11" name="Text 9"/>
          <p:cNvSpPr/>
          <p:nvPr/>
        </p:nvSpPr>
        <p:spPr>
          <a:xfrm>
            <a:off x="685800" y="3629805"/>
            <a:ext cx="5219700" cy="351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1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incident</a:t>
            </a:r>
            <a:endParaRPr lang="en-US" sz="1710" dirty="0"/>
          </a:p>
        </p:txBody>
      </p:sp>
      <p:sp>
        <p:nvSpPr>
          <p:cNvPr id="12" name="Text 10"/>
          <p:cNvSpPr/>
          <p:nvPr/>
        </p:nvSpPr>
        <p:spPr>
          <a:xfrm>
            <a:off x="685800" y="4068066"/>
            <a:ext cx="5219700" cy="15624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Luis opens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signed in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edge stores it under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+ path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Maya requests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/account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gets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Luis's page</a:t>
            </a:r>
            <a:endParaRPr lang="en-US" sz="1824" dirty="0"/>
          </a:p>
        </p:txBody>
      </p:sp>
      <p:sp>
        <p:nvSpPr>
          <p:cNvPr id="13" name="Text 11"/>
          <p:cNvSpPr/>
          <p:nvPr/>
        </p:nvSpPr>
        <p:spPr>
          <a:xfrm>
            <a:off x="6286500" y="3629805"/>
            <a:ext cx="5219700" cy="351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1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rule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6286500" y="4068066"/>
            <a:ext cx="5219700" cy="1886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cache stores under a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host + path + query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Depends on anything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 the key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? Sharing leaks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Personalized →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browser only</a:t>
            </a:r>
            <a:endParaRPr lang="en-US" sz="1824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28750"/>
            <a:ext cx="2667000" cy="400050"/>
          </a:xfrm>
          <a:prstGeom prst="roundRect">
            <a:avLst>
              <a:gd name="adj" fmla="val 114286"/>
            </a:avLst>
          </a:prstGeom>
          <a:solidFill>
            <a:srgbClr val="071320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28750"/>
            <a:ext cx="2667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25" b="1" spc="2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◇  ACTIVE CHECKPOINT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3505200" y="1428750"/>
            <a:ext cx="8001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  ·  Individual silent write (4 min) → cold call three students (4 min) → debrief (2 min)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685800" y="2038350"/>
            <a:ext cx="10820400" cy="12151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9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should each of these be answered — and is it safe to share?</a:t>
            </a:r>
            <a:endParaRPr lang="en-US" sz="3696" dirty="0"/>
          </a:p>
        </p:txBody>
      </p:sp>
      <p:sp>
        <p:nvSpPr>
          <p:cNvPr id="10" name="Text 8"/>
          <p:cNvSpPr/>
          <p:nvPr/>
        </p:nvSpPr>
        <p:spPr>
          <a:xfrm>
            <a:off x="685800" y="3354098"/>
            <a:ext cx="10820400" cy="26127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1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4-second segment of episode 3 in 1080p, requested by 40,000 viewers tonight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2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CampusPulse's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2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/assets/index-C4c61eeb.js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2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built by Vite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3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CampusPulse's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3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/api/status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3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identical for everyone, changes every few seconds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Font typeface="+mj-lt"/>
              <a:buAutoNum type="arabicPeriod" startAt="4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streaming app's "Continue watching" row for the signed-in viewer</a:t>
            </a:r>
            <a:endParaRPr lang="en-US" sz="2112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W05·A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CDNs and streaming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717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11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Block B does with this</a:t>
            </a:r>
            <a:endParaRPr lang="en-US" sz="4116" dirty="0"/>
          </a:p>
        </p:txBody>
      </p:sp>
      <p:sp>
        <p:nvSpPr>
          <p:cNvPr id="7" name="Text 5"/>
          <p:cNvSpPr/>
          <p:nvPr/>
        </p:nvSpPr>
        <p:spPr>
          <a:xfrm>
            <a:off x="685800" y="1743564"/>
            <a:ext cx="10820400" cy="4228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now know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copies live and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may be shared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Block B opens the stack: browser, service worker, React data cache, CDN, reverse proxy, Redis, database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each layer: what it is good at, a real product that implements it, and how it is invalidated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one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 React + Node example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Vite build, Express headers, a Redis cache-aside, and invalidation on write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HW5 asks you to design that stack for your own CampusPulse and prove it works</a:t>
            </a:r>
            <a:endParaRPr lang="en-US" sz="2352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Caching technologies, layer by layer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397100"/>
            <a:ext cx="10820400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40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Browser, service worker, React data cache, CDN, reverse proxy, Redis, and the database — and one React + Node app that configures four of them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" y="3865474"/>
            <a:ext cx="10820400" cy="920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40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fast app is a stack of caches. Today you see the whole stack, then configure four layers of it in one React + Node app.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cache stack, from the tab to the database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28873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303520"/>
            <a:ext cx="10820400" cy="678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layer is closer to the user, faster, and knows less about whether its copy is still true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256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5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each layer is good at, and who uses it</a:t>
            </a:r>
            <a:endParaRPr lang="en-US" sz="2856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17730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3781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</a:t>
                      </a:r>
                      <a:endParaRPr lang="en-US" sz="122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 for</a:t>
                      </a:r>
                      <a:endParaRPr lang="en-US" sz="122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Real-world example</a:t>
                      </a:r>
                      <a:endParaRPr lang="en-US" sz="122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React data cache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 refetching the same API data on every render or route change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TanStack Query in a React dashboard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worker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Offline and instant repeat loads; app-shell caching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Offline-capable progressive web apps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HTTP cache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JS, CSS, images, fonts with long lifetimes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site: hashed bundle files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CDN edge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Static files and public responses near users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 segments, product images, /api/status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Reverse proxy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Caching whole responses in front of slow app servers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Nginx proxy_cache, Varnish on news sites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193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 cache (Redis)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Expensive query results, sessions, rate-limit counters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6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Facebook's memcache tier — billions of requests a second</a:t>
                      </a:r>
                      <a:endParaRPr lang="en-US" sz="1326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 Worker API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Varnish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Nginx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proxy_cache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USENIX NSDI '13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Scaling Memcache at Facebook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Caching overview</a:t>
            </a:r>
            <a:endParaRPr lang="en-US" sz="127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27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52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questions pick the layer for you</a:t>
            </a:r>
            <a:endParaRPr lang="en-US" sz="3528" dirty="0"/>
          </a:p>
        </p:txBody>
      </p:sp>
      <p:sp>
        <p:nvSpPr>
          <p:cNvPr id="7" name="Text 5"/>
          <p:cNvSpPr/>
          <p:nvPr/>
        </p:nvSpPr>
        <p:spPr>
          <a:xfrm>
            <a:off x="685800" y="1638175"/>
            <a:ext cx="10820400" cy="28565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may see this copy?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One user → device layers only. Everyone → any layer</a:t>
            </a:r>
            <a:endParaRPr lang="en-US" sz="2016" dirty="0"/>
          </a:p>
          <a:p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stale may it be?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Never → don't cache, or revalidate every time. Seconds → short TTL. Forever → hashed name</a:t>
            </a:r>
            <a:endParaRPr lang="en-US" sz="2016" dirty="0"/>
          </a:p>
          <a:p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expensive is a miss?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300 ms query hit 1,000 times a minute is worth caching; a 2 ms lookup may not be</a:t>
            </a:r>
            <a:endParaRPr lang="en-US" sz="2016" dirty="0"/>
          </a:p>
          <a:p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will you throw it away?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Expire on a timer, delete on write, or change the name — decide 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algn="l" marL="342900" indent="-342900">
              <a:lnSpc>
                <a:spcPct val="105263"/>
              </a:lnSpc>
              <a:spcAft>
                <a:spcPts val="504"/>
              </a:spcAft>
              <a:buSzPct val="100000"/>
              <a:buChar char="▪"/>
            </a:pPr>
            <a:r>
              <a:rPr lang="en-US" sz="201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caching</a:t>
            </a:r>
            <a:endParaRPr lang="en-US" sz="2016" dirty="0"/>
          </a:p>
        </p:txBody>
      </p:sp>
      <p:sp>
        <p:nvSpPr>
          <p:cNvPr id="8" name="Shape 6"/>
          <p:cNvSpPr/>
          <p:nvPr/>
        </p:nvSpPr>
        <p:spPr>
          <a:xfrm>
            <a:off x="685800" y="4606775"/>
            <a:ext cx="10820400" cy="1322897"/>
          </a:xfrm>
          <a:prstGeom prst="roundRect">
            <a:avLst>
              <a:gd name="adj" fmla="val 3456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606775"/>
            <a:ext cx="76200" cy="1322897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721075"/>
            <a:ext cx="10363200" cy="2720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86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386" dirty="0"/>
          </a:p>
        </p:txBody>
      </p:sp>
      <p:sp>
        <p:nvSpPr>
          <p:cNvPr id="11" name="Text 9"/>
          <p:cNvSpPr/>
          <p:nvPr/>
        </p:nvSpPr>
        <p:spPr>
          <a:xfrm>
            <a:off x="914400" y="5031209"/>
            <a:ext cx="10363200" cy="7460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89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 cannot answer the fourth question, you are not ready to add the cache. Stale data that you cannot remove is a bug you shipped on purpose.</a:t>
            </a:r>
            <a:endParaRPr lang="en-US" sz="189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Worked example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CampusPulse in React + Node, cached end to end</a:t>
            </a:r>
            <a:endParaRPr lang="en-US" sz="4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kinds of response, four caching decisions</a:t>
            </a:r>
            <a:endParaRPr lang="en-US" sz="4200" dirty="0"/>
          </a:p>
        </p:txBody>
      </p:sp>
      <p:pic>
        <p:nvPicPr>
          <p:cNvPr id="7" name="Image 0" descr="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685800" y="2416150"/>
            <a:ext cx="10820400" cy="262067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5036820"/>
            <a:ext cx="10820400" cy="678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226"/>
              </a:lnSpc>
              <a:buNone/>
            </a:pPr>
            <a:r>
              <a:rPr lang="en-US" sz="18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Express server serves the React build and the API, and makes a different caching decision for each route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react-node-cache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sample</a:t>
            </a:r>
            <a:endParaRPr lang="en-US" sz="1275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1 — Vite already fingerprints your build</a:t>
            </a:r>
            <a:endParaRPr lang="en-US" sz="3192" dirty="0"/>
          </a:p>
        </p:txBody>
      </p:sp>
      <p:sp>
        <p:nvSpPr>
          <p:cNvPr id="7" name="Shape 5"/>
          <p:cNvSpPr/>
          <p:nvPr/>
        </p:nvSpPr>
        <p:spPr>
          <a:xfrm>
            <a:off x="685800" y="1577953"/>
            <a:ext cx="10820400" cy="2722626"/>
          </a:xfrm>
          <a:prstGeom prst="roundRect">
            <a:avLst>
              <a:gd name="adj" fmla="val 2015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77953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97003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build — what Vite writes to dist/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027533"/>
            <a:ext cx="10439400" cy="214731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dist/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 index.html                ← small; names the current bundle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 assets/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├── index-C4c61eeb.js     ← the hash changes when the bytes change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└── index-9b73e0aa.css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index.html after the build:</a:t>
            </a:r>
            <a:endParaRPr lang="en-US" sz="14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&lt;script type="module" src="/assets/index-C4c61eeb.js"&gt;&lt;/script&gt;</a:t>
            </a:r>
            <a:endParaRPr lang="en-US" sz="1425" dirty="0"/>
          </a:p>
        </p:txBody>
      </p:sp>
      <p:sp>
        <p:nvSpPr>
          <p:cNvPr id="11" name="Shape 9"/>
          <p:cNvSpPr/>
          <p:nvPr/>
        </p:nvSpPr>
        <p:spPr>
          <a:xfrm>
            <a:off x="685800" y="4416403"/>
            <a:ext cx="10820400" cy="1234644"/>
          </a:xfrm>
          <a:prstGeom prst="roundRect">
            <a:avLst>
              <a:gd name="adj" fmla="val 370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416403"/>
            <a:ext cx="76200" cy="1234644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530703"/>
            <a:ext cx="10363200" cy="246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4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54" dirty="0"/>
          </a:p>
        </p:txBody>
      </p:sp>
      <p:sp>
        <p:nvSpPr>
          <p:cNvPr id="14" name="Text 12"/>
          <p:cNvSpPr/>
          <p:nvPr/>
        </p:nvSpPr>
        <p:spPr>
          <a:xfrm>
            <a:off x="914400" y="4814929"/>
            <a:ext cx="10363200" cy="6837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1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code → new filename → a URL no cache has ever seen. That is why the files can be cached for a year with nothing to purge, and why </a:t>
            </a:r>
            <a:pPr algn="l" indent="0" marL="0">
              <a:lnSpc>
                <a:spcPct val="102256"/>
              </a:lnSpc>
              <a:buNone/>
            </a:pPr>
            <a:r>
              <a:rPr lang="en-US" sz="171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pPr algn="l" indent="0" marL="0">
              <a:lnSpc>
                <a:spcPct val="102256"/>
              </a:lnSpc>
              <a:buNone/>
            </a:pPr>
            <a:r>
              <a:rPr lang="en-US" sz="171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cannot.</a:t>
            </a:r>
            <a:endParaRPr lang="en-US" sz="1715" dirty="0"/>
          </a:p>
        </p:txBody>
      </p:sp>
      <p:sp>
        <p:nvSpPr>
          <p:cNvPr id="15" name="Shape 13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Building for production</a:t>
            </a:r>
            <a:endParaRPr lang="en-US" sz="127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619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2 — Express: long-lived assets, a shell that always checks</a:t>
            </a:r>
            <a:endParaRPr lang="en-US" sz="3192" dirty="0"/>
          </a:p>
        </p:txBody>
      </p:sp>
      <p:sp>
        <p:nvSpPr>
          <p:cNvPr id="7" name="Shape 5"/>
          <p:cNvSpPr/>
          <p:nvPr/>
        </p:nvSpPr>
        <p:spPr>
          <a:xfrm>
            <a:off x="685800" y="2063197"/>
            <a:ext cx="10820400" cy="3606653"/>
          </a:xfrm>
          <a:prstGeom prst="roundRect">
            <a:avLst>
              <a:gd name="adj" fmla="val 1521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063197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082247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server.mjs — static files and the SPA shell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512777"/>
            <a:ext cx="10439400" cy="303134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Hashed build output: new bytes get a new URL, so browsers and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CDNs may keep these for a year. A missing asset is a 404.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"/assets"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express.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(distDir,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"assets"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 {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immutable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maxAge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"1y"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fallthrough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}));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→ Cache-Control: public, max-age=31536000, immutable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The shell names the current hashes, so every load checks for a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newer deploy — a cheap 304 Not Modified when nothing changed.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"/{*splat}"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req, res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=&gt;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"Cache-Control"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"no-cache"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sendFile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"index.html"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{ 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</a:t>
            </a:r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distDir });</a:t>
            </a:r>
            <a:endParaRPr lang="en-US" sz="125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5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54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Express 5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express.static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and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res.sendFile</a:t>
            </a:r>
            <a:endParaRPr lang="en-US" sz="1275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639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0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3 — one Cache-Control decision per API route</a:t>
            </a:r>
            <a:endParaRPr lang="en-US" sz="3108" dirty="0"/>
          </a:p>
        </p:txBody>
      </p:sp>
      <p:sp>
        <p:nvSpPr>
          <p:cNvPr id="7" name="Shape 5"/>
          <p:cNvSpPr/>
          <p:nvPr/>
        </p:nvSpPr>
        <p:spPr>
          <a:xfrm>
            <a:off x="685800" y="1562897"/>
            <a:ext cx="10820400" cy="4345686"/>
          </a:xfrm>
          <a:prstGeom prst="roundRect">
            <a:avLst>
              <a:gd name="adj" fmla="val 1262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62897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81947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server.mjs — the API routes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012477"/>
            <a:ext cx="10439400" cy="377037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"/api/status"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(req, res) =&gt; {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same for everyone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value, state } 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"status:v1"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 =&gt;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db.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"Cache-Control"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"public, max-age=10"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"X-Cache"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state 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(value);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"/api/incidents"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(req, res) =&gt; {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changes on writes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value, state } 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"incidents:open:v1"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 =&gt;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db.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openIncidents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"Cache-Control"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"no-cache"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"X-Cache"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state 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incidents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value 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"/api/me"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req, res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=&gt;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         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one user only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"Cache-Control"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"private, no-store"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… read the session cookie and respond …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4 — cache-aside, with a stampede guard</a:t>
            </a:r>
            <a:endParaRPr lang="en-US" sz="3192" dirty="0"/>
          </a:p>
        </p:txBody>
      </p:sp>
      <p:sp>
        <p:nvSpPr>
          <p:cNvPr id="7" name="Shape 5"/>
          <p:cNvSpPr/>
          <p:nvPr/>
        </p:nvSpPr>
        <p:spPr>
          <a:xfrm>
            <a:off x="685800" y="1577953"/>
            <a:ext cx="10820400" cy="4129278"/>
          </a:xfrm>
          <a:prstGeom prst="roundRect">
            <a:avLst>
              <a:gd name="adj" fmla="val 1329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77953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97003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server.mjs — the cached() helper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027533"/>
            <a:ext cx="10439400" cy="355396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cached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key, ttlSeconds, load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{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hit 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store.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(hit !==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(hit),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"HIT"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};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(!inflight.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(key)) {              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first miss does the work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inflight.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(key, (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() =&gt; {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value =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store.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setEx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(key, ttlSeconds,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stringify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(value));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value;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}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finally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inflight.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}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})());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}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inflight.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(key),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"MISS"</a:t>
            </a:r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};</a:t>
            </a:r>
            <a:endParaRPr lang="en-US" sz="12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Redis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Caching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Node.js client</a:t>
            </a:r>
            <a:endParaRPr lang="en-US" sz="127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2151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9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5 — every write deletes the keys it changed</a:t>
            </a:r>
            <a:endParaRPr lang="en-US" sz="3696" dirty="0"/>
          </a:p>
        </p:txBody>
      </p:sp>
      <p:sp>
        <p:nvSpPr>
          <p:cNvPr id="7" name="Shape 5"/>
          <p:cNvSpPr/>
          <p:nvPr/>
        </p:nvSpPr>
        <p:spPr>
          <a:xfrm>
            <a:off x="685800" y="2230148"/>
            <a:ext cx="10820400" cy="2237872"/>
          </a:xfrm>
          <a:prstGeom prst="roundRect">
            <a:avLst>
              <a:gd name="adj" fmla="val 2452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230148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249198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server.mjs — POST /api/incidents (validation trimmed)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679728"/>
            <a:ext cx="10439400" cy="166256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"/api/incidents"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jsonBody,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(req, res) =&gt; {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… refuse unless writes are enabled; validate title and service …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created =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db.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createIncident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title.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trim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(), service });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Promise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([store.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"incidents:open:v1"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 store.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"status:v1"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)]);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res.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location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`/api/incidents/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${created.id}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(created);</a:t>
            </a:r>
            <a:endParaRPr lang="en-US" sz="1452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52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452" dirty="0"/>
          </a:p>
        </p:txBody>
      </p:sp>
      <p:sp>
        <p:nvSpPr>
          <p:cNvPr id="11" name="Shape 9"/>
          <p:cNvSpPr/>
          <p:nvPr/>
        </p:nvSpPr>
        <p:spPr>
          <a:xfrm>
            <a:off x="685800" y="4602133"/>
            <a:ext cx="10820400" cy="1367023"/>
          </a:xfrm>
          <a:prstGeom prst="roundRect">
            <a:avLst>
              <a:gd name="adj" fmla="val 3344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602133"/>
            <a:ext cx="76200" cy="1367023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16433"/>
            <a:ext cx="10363200" cy="2849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2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52" dirty="0"/>
          </a:p>
        </p:txBody>
      </p:sp>
      <p:sp>
        <p:nvSpPr>
          <p:cNvPr id="14" name="Text 12"/>
          <p:cNvSpPr/>
          <p:nvPr/>
        </p:nvSpPr>
        <p:spPr>
          <a:xfrm>
            <a:off x="914400" y="5039521"/>
            <a:ext cx="10363200" cy="7772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98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read is a </a:t>
            </a:r>
            <a:pPr algn="l" indent="0" marL="0">
              <a:lnSpc>
                <a:spcPct val="102256"/>
              </a:lnSpc>
              <a:buNone/>
            </a:pPr>
            <a:r>
              <a:rPr lang="en-US" sz="198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</a:t>
            </a:r>
            <a:pPr algn="l" indent="0" marL="0">
              <a:lnSpc>
                <a:spcPct val="102256"/>
              </a:lnSpc>
              <a:buNone/>
            </a:pPr>
            <a:r>
              <a:rPr lang="en-US" sz="198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loads fresh data. A new incident changes the status summary too — forgetting a </a:t>
            </a:r>
            <a:pPr algn="l" indent="0" marL="0">
              <a:lnSpc>
                <a:spcPct val="102256"/>
              </a:lnSpc>
              <a:buNone/>
            </a:pPr>
            <a:r>
              <a:rPr lang="en-US" sz="1985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dependent key</a:t>
            </a:r>
            <a:pPr algn="l" indent="0" marL="0">
              <a:lnSpc>
                <a:spcPct val="102256"/>
              </a:lnSpc>
              <a:buNone/>
            </a:pPr>
            <a:r>
              <a:rPr lang="en-US" sz="198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the classic bug.</a:t>
            </a:r>
            <a:endParaRPr lang="en-US" sz="198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89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6 — React keeps one shared copy in the tab</a:t>
            </a:r>
            <a:endParaRPr lang="en-US" sz="3276" dirty="0"/>
          </a:p>
        </p:txBody>
      </p:sp>
      <p:sp>
        <p:nvSpPr>
          <p:cNvPr id="7" name="Shape 5"/>
          <p:cNvSpPr/>
          <p:nvPr/>
        </p:nvSpPr>
        <p:spPr>
          <a:xfrm>
            <a:off x="685800" y="1593008"/>
            <a:ext cx="10820400" cy="3705118"/>
          </a:xfrm>
          <a:prstGeom prst="roundRect">
            <a:avLst>
              <a:gd name="adj" fmla="val 1481"/>
            </a:avLst>
          </a:prstGeom>
          <a:solidFill>
            <a:srgbClr val="081726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93008"/>
            <a:ext cx="10820400" cy="323850"/>
          </a:xfrm>
          <a:prstGeom prst="rect">
            <a:avLst/>
          </a:prstGeom>
          <a:solidFill>
            <a:srgbClr val="1B3A54"/>
          </a:solidFill>
          <a:ln w="12700">
            <a:solidFill>
              <a:srgbClr val="0817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612058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StatusBanner.jsx — TanStack Query as the client cache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JSX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042588"/>
            <a:ext cx="10439400" cy="312980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useQuery }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"@tanstack/react-query"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StatusBanner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{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data, isPending } =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useQuery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queryKey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[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"status"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queryFn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 =&gt;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"/api/status"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=&gt;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r.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()),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staleTime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10_000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 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 every component shares one copy for 10 s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});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(isPending)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Checking services…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down = data.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 =&gt;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s.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!==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"operational"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{down.length ? `${down.length} degraded` : "All clear"}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40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4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TanStack Query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Caching examples</a:t>
            </a:r>
            <a:endParaRPr lang="en-US" sz="1275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876300"/>
            <a:ext cx="2000250" cy="400050"/>
          </a:xfrm>
          <a:prstGeom prst="roundRect">
            <a:avLst>
              <a:gd name="adj" fmla="val 114286"/>
            </a:avLst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876300"/>
            <a:ext cx="20002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2A1F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 LIVE DEMO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428750"/>
            <a:ext cx="10820400" cy="6405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1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Demo: watch the app cache absorb the load</a:t>
            </a:r>
            <a:endParaRPr lang="en-US" sz="3612" dirty="0"/>
          </a:p>
        </p:txBody>
      </p:sp>
      <p:sp>
        <p:nvSpPr>
          <p:cNvPr id="9" name="Shape 7"/>
          <p:cNvSpPr/>
          <p:nvPr/>
        </p:nvSpPr>
        <p:spPr>
          <a:xfrm>
            <a:off x="685800" y="2183583"/>
            <a:ext cx="5238750" cy="3531417"/>
          </a:xfrm>
          <a:prstGeom prst="roundRect">
            <a:avLst>
              <a:gd name="adj" fmla="val 1295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" y="229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THIS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914400" y="2640783"/>
            <a:ext cx="4781550" cy="28596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weeks/week05/samples/react-node-cache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 install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then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1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 start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2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2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http://127.0.0.1:3000/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2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DevTools → Network, then reload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/api/status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reload twice; read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X-Cache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Font typeface="+mj-lt"/>
              <a:buAutoNum type="arabicPeriod" startAt="3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the time column</a:t>
            </a:r>
            <a:endParaRPr lang="en-US" sz="1824" dirty="0"/>
          </a:p>
        </p:txBody>
      </p:sp>
      <p:sp>
        <p:nvSpPr>
          <p:cNvPr id="12" name="Shape 10"/>
          <p:cNvSpPr/>
          <p:nvPr/>
        </p:nvSpPr>
        <p:spPr>
          <a:xfrm>
            <a:off x="6267450" y="2183583"/>
            <a:ext cx="5238750" cy="1977594"/>
          </a:xfrm>
          <a:prstGeom prst="roundRect">
            <a:avLst>
              <a:gd name="adj" fmla="val 2312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29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6496050" y="2640783"/>
            <a:ext cx="4781550" cy="1392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Asset: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 (memory cache)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reload; shell: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304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or a quick revalidated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endParaRPr lang="en-US" sz="1680" dirty="0"/>
          </a:p>
          <a:p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/api/status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near 300 ms, then 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</a:t>
            </a:r>
            <a:pPr algn="l" marL="342900" indent="-342900">
              <a:lnSpc>
                <a:spcPct val="105263"/>
              </a:lnSpc>
              <a:spcAft>
                <a:spcPts val="420"/>
              </a:spcAft>
              <a:buSzPct val="100000"/>
              <a:buChar char="▪"/>
            </a:pPr>
            <a:r>
              <a:rPr lang="en-US" sz="168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a few ms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267450" y="4351676"/>
            <a:ext cx="5238750" cy="1363324"/>
          </a:xfrm>
          <a:prstGeom prst="roundRect">
            <a:avLst>
              <a:gd name="adj" fmla="val 3354"/>
            </a:avLst>
          </a:prstGeom>
          <a:solidFill>
            <a:srgbClr val="2C241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7000" y="4465976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IT FAILS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6496050" y="4808876"/>
            <a:ext cx="4781550" cy="7712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</a:t>
            </a:r>
            <a:pPr algn="l" indent="0" marL="0">
              <a:lnSpc>
                <a:spcPct val="102256"/>
              </a:lnSpc>
              <a:buNone/>
            </a:pPr>
            <a:r>
              <a:rPr lang="en-US" sz="196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 test</a:t>
            </a:r>
            <a:pPr algn="l" indent="0" marL="0">
              <a:lnSpc>
                <a:spcPct val="102256"/>
              </a:lnSpc>
              <a:buNone/>
            </a:pPr>
            <a:r>
              <a:rPr lang="en-US" sz="196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the sample and read the eight passing test names aloud.</a:t>
            </a:r>
            <a:endParaRPr lang="en-US" sz="1968" dirty="0"/>
          </a:p>
        </p:txBody>
      </p:sp>
      <p:sp>
        <p:nvSpPr>
          <p:cNvPr id="18" name="Shape 1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react-node-cache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README</a:t>
            </a:r>
            <a:endParaRPr lang="en-US" sz="1275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874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Service workers: you write the caching strategy yourself</a:t>
            </a:r>
            <a:endParaRPr lang="en-US" sz="3276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91022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40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Strategy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it does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4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Use it for</a:t>
                      </a:r>
                      <a:endParaRPr lang="en-US" sz="1404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Cache first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Answer from Cache Storage; network only on a miss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Hashed assets, fonts, the app shell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first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Try the network; fall back to the cache when offline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Pages and API data that should be current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Stale-while-revalidate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Answer from cache now, refresh it in the background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Avatars, non-critical lists, news feeds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6852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only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Never cache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Sign-in, payments, anything personal and live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4283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Cache only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Never touch the network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2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Files pre-cached at install time</a:t>
                      </a:r>
                      <a:endParaRPr lang="en-US" sz="1521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for Developers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Workbox caching strategies</a:t>
            </a:r>
            <a:endParaRPr lang="en-US" sz="1275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two hard problems: stale data and stampedes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Throwing copies away</a:t>
            </a:r>
            <a:endParaRPr lang="en-US" sz="1755" dirty="0"/>
          </a:p>
        </p:txBody>
      </p:sp>
      <p:sp>
        <p:nvSpPr>
          <p:cNvPr id="8" name="Text 6"/>
          <p:cNvSpPr/>
          <p:nvPr/>
        </p:nvSpPr>
        <p:spPr>
          <a:xfrm>
            <a:off x="685800" y="2863537"/>
            <a:ext cx="5219700" cy="29919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TTL: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simplest; accept staleness up to N seconds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 on write: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exact, but only where you can reach (Redis, not browsers)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name: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hashed files and versioned keys like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status:v1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→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Purge: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ask the CDN to forget a URL — slow, and never reaches browsers</a:t>
            </a:r>
            <a:endParaRPr lang="en-US" sz="1872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3582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5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Surviving a cold cache</a:t>
            </a:r>
            <a:endParaRPr lang="en-US" sz="1755" dirty="0"/>
          </a:p>
        </p:txBody>
      </p:sp>
      <p:sp>
        <p:nvSpPr>
          <p:cNvPr id="10" name="Text 8"/>
          <p:cNvSpPr/>
          <p:nvPr/>
        </p:nvSpPr>
        <p:spPr>
          <a:xfrm>
            <a:off x="6286500" y="2863537"/>
            <a:ext cx="5219700" cy="29919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popular key expires and 1,000 requests miss at once: a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stampede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Coalesce: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one loader per key (the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inflight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map)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 stale while refreshing: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answer with the old copy, update behind it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Jitter TTLs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 a thousand keys do not expire in the same second</a:t>
            </a:r>
            <a:endParaRPr lang="en-US" sz="1872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908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8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header vocabulary, as reference — what each one is for</a:t>
            </a:r>
            <a:endParaRPr lang="en-US" sz="2688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96246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3741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want…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Header / directive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Layer it talks to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382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Keep a hashed file for a year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public, max-age=31536000, immutable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+ CDN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382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Cache, but check before each reuse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no-cache + an ETag (answer: 304)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+ CDN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5930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Never store it anywhere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no-store (private = this user's browser only)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Every layer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5930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Different lifetime for shared caches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s-maxage=N (overrides max-age at the CDN)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CDN, proxies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5930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 stale while refreshing or during an outage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stale-while-revalidate, stale-if-error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+ CDN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5930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Add a request header to the cache key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Vary: Accept-Encoding (or a CDN key rule)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Browser + CDN</a:t>
                      </a:r>
                      <a:endParaRPr lang="en-US" sz="124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 caching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IETF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RFC 9111, HTTP Caching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Week 5 reference</a:t>
            </a:r>
            <a:endParaRPr lang="en-US" sz="1275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533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9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 also shrinks the bytes it serves</a:t>
            </a:r>
            <a:endParaRPr lang="en-US" sz="3696" dirty="0"/>
          </a:p>
        </p:txBody>
      </p:sp>
      <p:sp>
        <p:nvSpPr>
          <p:cNvPr id="7" name="Text 5"/>
          <p:cNvSpPr/>
          <p:nvPr/>
        </p:nvSpPr>
        <p:spPr>
          <a:xfrm>
            <a:off x="685800" y="1668286"/>
            <a:ext cx="10820400" cy="38063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Compression: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Brotli or gzip on text (HTML, JS, CSS, JSON) — often 60–80% smaller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browser says what it accepts (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Accept-Encoding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); the server or CDN picks one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Images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are usually the heaviest bytes: AVIF or WebP, sized with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srcset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with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set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CDNs compress and resize images for you at the PoP — it is a setting, not code</a:t>
            </a:r>
            <a:endParaRPr lang="en-US" sz="2112" dirty="0"/>
          </a:p>
          <a:p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HW5 Task 4 asks you to 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</a:t>
            </a:r>
            <a:pPr algn="l" marL="342900" indent="-342900">
              <a:lnSpc>
                <a:spcPct val="105263"/>
              </a:lnSpc>
              <a:spcAft>
                <a:spcPts val="528"/>
              </a:spcAft>
              <a:buSzPct val="100000"/>
              <a:buChar char="▪"/>
            </a:pPr>
            <a:r>
              <a:rPr lang="en-US" sz="211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this on your deployment, not assume it</a:t>
            </a:r>
            <a:endParaRPr lang="en-US" sz="2112" dirty="0"/>
          </a:p>
        </p:txBody>
      </p:sp>
      <p:sp>
        <p:nvSpPr>
          <p:cNvPr id="8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Compression in HTTP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MDN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Responsive images</a:t>
            </a:r>
            <a:endParaRPr lang="en-US" sz="1275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28750"/>
            <a:ext cx="2667000" cy="400050"/>
          </a:xfrm>
          <a:prstGeom prst="roundRect">
            <a:avLst>
              <a:gd name="adj" fmla="val 114286"/>
            </a:avLst>
          </a:prstGeom>
          <a:solidFill>
            <a:srgbClr val="071320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28750"/>
            <a:ext cx="2667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25" b="1" spc="2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◇  ACTIVE CHECKPOINT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3505200" y="1428750"/>
            <a:ext cx="8001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  ·  Individual (4 min) → compare with a neighbor (2 min) → cold call (4 min)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038350"/>
            <a:ext cx="10820400" cy="1113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36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the cache for two CampusPulse features</a:t>
            </a:r>
            <a:endParaRPr lang="en-US" sz="3360" dirty="0"/>
          </a:p>
        </p:txBody>
      </p:sp>
      <p:sp>
        <p:nvSpPr>
          <p:cNvPr id="10" name="Text 8"/>
          <p:cNvSpPr/>
          <p:nvPr/>
        </p:nvSpPr>
        <p:spPr>
          <a:xfrm>
            <a:off x="685800" y="3242798"/>
            <a:ext cx="10820400" cy="1578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1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hours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1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1"/>
            </a:pPr>
            <a:r>
              <a:rPr lang="en-US" sz="192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/api/buildings/hours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1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same for everyone, edited by staff about once a week, read on every page load</a:t>
            </a:r>
            <a:endParaRPr lang="en-US" sz="1920" dirty="0"/>
          </a:p>
          <a:p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2"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"My reports"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2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2"/>
            </a:pPr>
            <a:r>
              <a:rPr lang="en-US" sz="192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/api/me/reports</a:t>
            </a:r>
            <a:pPr algn="l" marL="342900" indent="-342900">
              <a:lnSpc>
                <a:spcPct val="105263"/>
              </a:lnSpc>
              <a:spcAft>
                <a:spcPts val="480"/>
              </a:spcAft>
              <a:buSzPct val="100000"/>
              <a:buFont typeface="+mj-lt"/>
              <a:buAutoNum type="arabicPeriod" startAt="2"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): a signed-in student's own outage reports, updated when they file one</a:t>
            </a:r>
            <a:endParaRPr lang="en-US" sz="1920" dirty="0"/>
          </a:p>
        </p:txBody>
      </p:sp>
      <p:sp>
        <p:nvSpPr>
          <p:cNvPr id="11" name="Text 9"/>
          <p:cNvSpPr/>
          <p:nvPr/>
        </p:nvSpPr>
        <p:spPr>
          <a:xfrm>
            <a:off x="685800" y="4928342"/>
            <a:ext cx="10820400" cy="754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each, name the </a:t>
            </a:r>
            <a:pPr algn="l" indent="0" marL="0">
              <a:lnSpc>
                <a:spcPct val="102256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layer(s)</a:t>
            </a:r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the </a:t>
            </a:r>
            <a:pPr algn="l" indent="0" marL="0">
              <a:lnSpc>
                <a:spcPct val="102256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</a:t>
            </a:r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algn="l" indent="0" marL="0">
              <a:lnSpc>
                <a:spcPct val="102256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is invalidated</a:t>
            </a:r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and </a:t>
            </a:r>
            <a:pPr algn="l" indent="0" marL="0">
              <a:lnSpc>
                <a:spcPct val="102256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line of config</a:t>
            </a:r>
            <a:pPr algn="l" indent="0" marL="0">
              <a:lnSpc>
                <a:spcPct val="102256"/>
              </a:lnSpc>
              <a:buNone/>
            </a:pPr>
            <a:r>
              <a:rPr lang="en-US" sz="192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(header or code).</a:t>
            </a:r>
            <a:endParaRPr lang="en-US" sz="1920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react-node-cache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sample</a:t>
            </a:r>
            <a:endParaRPr lang="en-US" sz="1275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W05·B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Caching layers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7171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11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Block C does with this</a:t>
            </a:r>
            <a:endParaRPr lang="en-US" sz="4116" dirty="0"/>
          </a:p>
        </p:txBody>
      </p:sp>
      <p:sp>
        <p:nvSpPr>
          <p:cNvPr id="7" name="Text 5"/>
          <p:cNvSpPr/>
          <p:nvPr/>
        </p:nvSpPr>
        <p:spPr>
          <a:xfrm>
            <a:off x="685800" y="1743564"/>
            <a:ext cx="10820400" cy="3810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Caching is a performance claim. Block C asks: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did it actually help a person?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Web Vitals (LCP, INP, CLS) and the rendering choice behind them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checks that tools catch and the ones they miss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Logs, metrics, traces, and an SLO — so you know when the cache hides a failure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lab: reproduce the Luis/Maya leak on your laptop, fix it, and measure</a:t>
            </a:r>
            <a:endParaRPr lang="en-US" sz="2352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Measuring the human experience — and knowing when it breaks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397100"/>
            <a:ext cx="10820400" cy="920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40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Web Vitals, accessibility as a release gate, and the smallest observability that would have told you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85800" y="3450946"/>
            <a:ext cx="10820400" cy="920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40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so far was about bytes. This block is about whether a person noticed.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Fictional CampusPulse case: fast page, failed experience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416150"/>
            <a:ext cx="5219700" cy="4061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7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dashboard is green</a:t>
            </a:r>
            <a:endParaRPr lang="en-US" sz="2070" dirty="0"/>
          </a:p>
        </p:txBody>
      </p:sp>
      <p:sp>
        <p:nvSpPr>
          <p:cNvPr id="8" name="Text 6"/>
          <p:cNvSpPr/>
          <p:nvPr/>
        </p:nvSpPr>
        <p:spPr>
          <a:xfrm>
            <a:off x="685800" y="2927425"/>
            <a:ext cx="5219700" cy="2264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LCP is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 s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INP is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 ms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and CLS is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</a:t>
            </a:r>
            <a:endParaRPr lang="en-US" sz="2208" dirty="0"/>
          </a:p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report request in the logs returns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2208" dirty="0"/>
          </a:p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release is declared healthy</a:t>
            </a:r>
            <a:endParaRPr lang="en-US" sz="2208" dirty="0"/>
          </a:p>
        </p:txBody>
      </p:sp>
      <p:sp>
        <p:nvSpPr>
          <p:cNvPr id="9" name="Text 7"/>
          <p:cNvSpPr/>
          <p:nvPr/>
        </p:nvSpPr>
        <p:spPr>
          <a:xfrm>
            <a:off x="6286500" y="2416150"/>
            <a:ext cx="5219700" cy="40611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7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Maya cannot submit</a:t>
            </a:r>
            <a:endParaRPr lang="en-US" sz="2070" dirty="0"/>
          </a:p>
        </p:txBody>
      </p:sp>
      <p:sp>
        <p:nvSpPr>
          <p:cNvPr id="10" name="Text 8"/>
          <p:cNvSpPr/>
          <p:nvPr/>
        </p:nvSpPr>
        <p:spPr>
          <a:xfrm>
            <a:off x="6286500" y="2927425"/>
            <a:ext cx="5219700" cy="30498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Keyboard focus never reaches </a:t>
            </a:r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outage</a:t>
            </a:r>
            <a:endParaRPr lang="en-US" sz="2208" dirty="0"/>
          </a:p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automated scanner reports no critical violation</a:t>
            </a:r>
            <a:endParaRPr lang="en-US" sz="2208" dirty="0"/>
          </a:p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useful SLI is completed reports, split by input path, not page loads</a:t>
            </a:r>
            <a:endParaRPr lang="en-US" sz="2208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1085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24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vitals, and one of them replaced the one you learned</a:t>
            </a:r>
            <a:endParaRPr lang="en-US" sz="3024" dirty="0"/>
          </a:p>
        </p:txBody>
      </p:sp>
      <p:sp>
        <p:nvSpPr>
          <p:cNvPr id="7" name="Text 5"/>
          <p:cNvSpPr/>
          <p:nvPr/>
        </p:nvSpPr>
        <p:spPr>
          <a:xfrm>
            <a:off x="685800" y="2007547"/>
            <a:ext cx="10820400" cy="20994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LCP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time to the largest visible element. Good is 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2.5 s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at p75. Bad means slow origin, render-blocking CSS, or an unoptimized hero</a:t>
            </a:r>
            <a:endParaRPr lang="en-US" sz="1728" dirty="0"/>
          </a:p>
          <a:p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worst interaction to next paint. Good is 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200 ms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at p75. Bad means long tasks on the main thread</a:t>
            </a:r>
            <a:endParaRPr lang="en-US" sz="1728" dirty="0"/>
          </a:p>
          <a:p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CLS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unexpected layout movement. Good is 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≤ 0.1</a:t>
            </a:r>
            <a:pPr algn="l" marL="342900" indent="-342900">
              <a:lnSpc>
                <a:spcPct val="105263"/>
              </a:lnSpc>
              <a:spcAft>
                <a:spcPts val="432"/>
              </a:spcAft>
              <a:buSzPct val="100000"/>
              <a:buChar char="▪"/>
            </a:pPr>
            <a:r>
              <a:rPr lang="en-US" sz="172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Bad means unsized images, late banners, or a font swap</a:t>
            </a:r>
            <a:endParaRPr lang="en-US" sz="1728" dirty="0"/>
          </a:p>
        </p:txBody>
      </p:sp>
      <p:sp>
        <p:nvSpPr>
          <p:cNvPr id="8" name="Shape 6"/>
          <p:cNvSpPr/>
          <p:nvPr/>
        </p:nvSpPr>
        <p:spPr>
          <a:xfrm>
            <a:off x="685800" y="4203021"/>
            <a:ext cx="10820400" cy="1471070"/>
          </a:xfrm>
          <a:prstGeom prst="roundRect">
            <a:avLst>
              <a:gd name="adj" fmla="val 3108"/>
            </a:avLst>
          </a:prstGeom>
          <a:solidFill>
            <a:srgbClr val="3D1717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203021"/>
            <a:ext cx="76200" cy="1471070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317321"/>
            <a:ext cx="10363200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CA5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■  THIS BREAKS PRODUCTION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588593"/>
            <a:ext cx="10363200" cy="933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6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 replaced FID in March 2024.</a:t>
            </a:r>
            <a:pPr algn="l" indent="0" marL="0">
              <a:lnSpc>
                <a:spcPct val="102256"/>
              </a:lnSpc>
              <a:buNone/>
            </a:pPr>
            <a:r>
              <a:rPr lang="en-US" sz="16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If you learned First Input Delay, unlearn it. FID timed only the </a:t>
            </a:r>
            <a:pPr algn="l" indent="0" marL="0">
              <a:lnSpc>
                <a:spcPct val="102256"/>
              </a:lnSpc>
              <a:buNone/>
            </a:pPr>
            <a:r>
              <a:rPr lang="en-US" sz="1624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delay before</a:t>
            </a:r>
            <a:pPr algn="l" indent="0" marL="0">
              <a:lnSpc>
                <a:spcPct val="102256"/>
              </a:lnSpc>
              <a:buNone/>
            </a:pPr>
            <a:r>
              <a:rPr lang="en-US" sz="16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first handler ran — a page could score a perfect FID and still freeze for two seconds after every click.</a:t>
            </a:r>
            <a:endParaRPr lang="en-US" sz="1624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web.dev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 Web Vitals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INP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Google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INP becomes a Core Web Vital</a:t>
            </a:r>
            <a:endParaRPr lang="en-US" sz="1275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89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 and field answer different questions</a:t>
            </a:r>
            <a:endParaRPr lang="en-US" sz="3276" dirty="0"/>
          </a:p>
        </p:txBody>
      </p:sp>
      <p:sp>
        <p:nvSpPr>
          <p:cNvPr id="7" name="Text 5"/>
          <p:cNvSpPr/>
          <p:nvPr/>
        </p:nvSpPr>
        <p:spPr>
          <a:xfrm>
            <a:off x="685800" y="1593008"/>
            <a:ext cx="10820400" cy="2266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Lighthouse, WebPageTest, your CI. One device, one network,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reproducible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so you can A/B a change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web-vitals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your own app. Every device and network,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reproducible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you cannot re-run Tuesday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gives you a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diagnosis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which element, which script. Field gives you a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verdict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is it bad, and for whom</a:t>
            </a:r>
            <a:endParaRPr lang="en-US" sz="1872" dirty="0"/>
          </a:p>
        </p:txBody>
      </p:sp>
      <p:sp>
        <p:nvSpPr>
          <p:cNvPr id="8" name="Shape 6"/>
          <p:cNvSpPr/>
          <p:nvPr/>
        </p:nvSpPr>
        <p:spPr>
          <a:xfrm>
            <a:off x="685800" y="3963819"/>
            <a:ext cx="10820400" cy="1560639"/>
          </a:xfrm>
          <a:prstGeom prst="roundRect">
            <a:avLst>
              <a:gd name="adj" fmla="val 2930"/>
            </a:avLst>
          </a:prstGeom>
          <a:solidFill>
            <a:srgbClr val="3A2E0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3963819"/>
            <a:ext cx="76200" cy="1560639"/>
          </a:xfrm>
          <a:prstGeom prst="rect">
            <a:avLst/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078119"/>
            <a:ext cx="10363200" cy="25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7" b="1" spc="1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▲  WATCH OUT</a:t>
            </a:r>
            <a:endParaRPr lang="en-US" sz="1287" dirty="0"/>
          </a:p>
        </p:txBody>
      </p:sp>
      <p:sp>
        <p:nvSpPr>
          <p:cNvPr id="11" name="Text 9"/>
          <p:cNvSpPr/>
          <p:nvPr/>
        </p:nvSpPr>
        <p:spPr>
          <a:xfrm>
            <a:off x="914400" y="4368822"/>
            <a:ext cx="10363200" cy="10032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will have no CrUX data, and that is correct.</a:t>
            </a:r>
            <a:pPr algn="l" indent="0" marL="0">
              <a:lnSpc>
                <a:spcPct val="102256"/>
              </a:lnSpc>
              <a:buNone/>
            </a:pPr>
            <a:r>
              <a:rPr lang="en-US" sz="17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Chrome's public field dataset only covers origins above a popularity threshold. A project three people have visited will never qualify — the absence of data is a property of the dataset, not a defect in your site.</a:t>
            </a:r>
            <a:endParaRPr lang="en-US" sz="1760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CrUX methodology: eligibility</a:t>
            </a:r>
            <a:endParaRPr lang="en-US" sz="1275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38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94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budget is a number you agreed to fail</a:t>
            </a:r>
            <a:endParaRPr lang="en-US" sz="2940" dirty="0"/>
          </a:p>
        </p:txBody>
      </p:sp>
      <p:sp>
        <p:nvSpPr>
          <p:cNvPr id="7" name="Shape 5"/>
          <p:cNvSpPr/>
          <p:nvPr/>
        </p:nvSpPr>
        <p:spPr>
          <a:xfrm>
            <a:off x="685800" y="1532786"/>
            <a:ext cx="10820400" cy="3166262"/>
          </a:xfrm>
          <a:prstGeom prst="roundRect">
            <a:avLst>
              <a:gd name="adj" fmla="val 1733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32786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51836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page, two delivery strategies — Lighthouse 13.4.1, mobile preset, 2026-08-15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CONSOLE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1982366"/>
            <a:ext cx="10439400" cy="259095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    /slow      /fast    budget   verdict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Performance score        59        100         —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First Contentful Paint  0.8 s     0.6 s     1.8 s   pass / pass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Largest Contentful Pt   3.7 s     0.8 s     2.5 s   FAIL / pass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Total Blocking Time    2750 ms      0 ms    200 ms  FAIL / pass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Cumulative Layout Shift    0          0       0.1   pass / pass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Same HTML. Same image. Three delivery changes: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render-blocking CSS on a slow response -&gt; critical CSS inlined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unsized &lt;img&gt;                          -&gt; width/height + fetchpriority</a:t>
            </a:r>
            <a:endParaRPr lang="en-US" sz="126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6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700 ms synchronous script              -&gt; deferred, off critical path</a:t>
            </a:r>
            <a:endParaRPr lang="en-US" sz="1260" dirty="0"/>
          </a:p>
        </p:txBody>
      </p:sp>
      <p:sp>
        <p:nvSpPr>
          <p:cNvPr id="11" name="Shape 9"/>
          <p:cNvSpPr/>
          <p:nvPr/>
        </p:nvSpPr>
        <p:spPr>
          <a:xfrm>
            <a:off x="685800" y="4805728"/>
            <a:ext cx="10820400" cy="1168454"/>
          </a:xfrm>
          <a:prstGeom prst="roundRect">
            <a:avLst>
              <a:gd name="adj" fmla="val 3913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805728"/>
            <a:ext cx="76200" cy="1168454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0028"/>
            <a:ext cx="10363200" cy="2266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5184823"/>
            <a:ext cx="10363200" cy="6369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579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user-visible content. Only the resource scheduling and script execution changed. </a:t>
            </a:r>
            <a:pPr algn="l" indent="0" marL="0">
              <a:lnSpc>
                <a:spcPct val="102256"/>
              </a:lnSpc>
              <a:buNone/>
            </a:pPr>
            <a:r>
              <a:rPr lang="en-US" sz="1579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is a first-class engineering decision, not a deployment detail.</a:t>
            </a:r>
            <a:endParaRPr lang="en-US" sz="1579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Windows: put both pages on screen and measure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3263646"/>
          </a:xfrm>
          <a:prstGeom prst="roundRect">
            <a:avLst>
              <a:gd name="adj" fmla="val 1681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- repository root; Node 20+, no network needed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POWERSHELL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68833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Set-Location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.\weeks\week05\samples ; node origin.mjs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Terminal A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'http://127.0.0.1:8080'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    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Terminal B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curl.exe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--noproxy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NUL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-w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'%{http_code} 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/slow"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curl.exe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--noproxy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NUL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-w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"%{http_code}`n"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/fast"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Expect: 200 200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Start-Process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/slow"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Then F12 &gt; Lighthouse &gt; Navigation + Mobile &gt; Analyze.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Repeat on /fast. Cleanup: Ctrl+C Terminal A when done.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/slow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and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/fast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handlers</a:t>
            </a:r>
            <a:endParaRPr lang="en-US" sz="1275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macOS: put both pages on screen and measure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3263646"/>
          </a:xfrm>
          <a:prstGeom prst="roundRect">
            <a:avLst>
              <a:gd name="adj" fmla="val 1681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macOS Terminal (zsh or bash) - Node 20+, no network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BASH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68833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weeks/week05/samples &amp;&amp; node origin.mjs 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Terminal A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o=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'http://127.0.0.1:8080'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  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Terminal B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 -sS --noproxy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-o /dev/null -w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'%{http_code} 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/slow"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 -sS --noproxy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-o /dev/null -w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'%{http_code}\n'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/fast"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Expect: 200 200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$o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/slow"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Then Cmd+Opt+I &gt; Lighthouse &gt; Navigation + Mobile &gt; Analyze.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Repeat on /fast. Cleanup: Ctrl-C Terminal A when done.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/slow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and </a:t>
            </a:r>
            <a:pPr indent="0" marL="0">
              <a:buNone/>
            </a:pPr>
            <a:r>
              <a:rPr lang="en-US" sz="1275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/fast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handlers</a:t>
            </a:r>
            <a:endParaRPr lang="en-US" sz="1275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9597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5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Rendering strategy is a delivery decision, not a framework preference</a:t>
            </a:r>
            <a:endParaRPr lang="en-US" sz="2856" dirty="0"/>
          </a:p>
        </p:txBody>
      </p:sp>
      <p:sp>
        <p:nvSpPr>
          <p:cNvPr id="7" name="Text 5"/>
          <p:cNvSpPr/>
          <p:nvPr/>
        </p:nvSpPr>
        <p:spPr>
          <a:xfrm>
            <a:off x="685800" y="1951897"/>
            <a:ext cx="10820400" cy="26718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CSR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cheapest origin; content waits on JS. The shell and assets still cache well, the 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does not</a:t>
            </a:r>
            <a:endParaRPr lang="en-US" sz="1632" dirty="0"/>
          </a:p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SSR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content in the first response; costs origin work per request, 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it is dynamic: mind the cache key</a:t>
            </a:r>
            <a:endParaRPr lang="en-US" sz="1632" dirty="0"/>
          </a:p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SSG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 origin work, fully edge-cacheable, and stale until you rebuild</a:t>
            </a:r>
            <a:endParaRPr lang="en-US" sz="1632" dirty="0"/>
          </a:p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ISR</a:t>
            </a:r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SSG's economics with a bounded staleness window</a:t>
            </a:r>
            <a:endParaRPr lang="en-US" sz="1632" dirty="0"/>
          </a:p>
          <a:p>
            <a:pPr algn="l" marL="342900" indent="-342900">
              <a:lnSpc>
                <a:spcPct val="105263"/>
              </a:lnSpc>
              <a:spcAft>
                <a:spcPts val="408"/>
              </a:spcAft>
              <a:buSzPct val="100000"/>
              <a:buChar char="▪"/>
            </a:pPr>
            <a:r>
              <a:rPr lang="en-US" sz="163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"how fresh must this be, is it the same for everyone, and who pays for it?" — that picks the strategy</a:t>
            </a:r>
            <a:endParaRPr lang="en-US" sz="1632" dirty="0"/>
          </a:p>
        </p:txBody>
      </p:sp>
      <p:sp>
        <p:nvSpPr>
          <p:cNvPr id="8" name="Shape 6"/>
          <p:cNvSpPr/>
          <p:nvPr/>
        </p:nvSpPr>
        <p:spPr>
          <a:xfrm>
            <a:off x="685800" y="4714451"/>
            <a:ext cx="10820400" cy="1146391"/>
          </a:xfrm>
          <a:prstGeom prst="roundRect">
            <a:avLst>
              <a:gd name="adj" fmla="val 3988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714451"/>
            <a:ext cx="76200" cy="1146391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828751"/>
            <a:ext cx="10363200" cy="220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5087069"/>
            <a:ext cx="10363200" cy="621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ISR is </a:t>
            </a:r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stale-while-revalidate</a:t>
            </a:r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implemented in your framework instead of your CDN. You already know the semantics; only the vendor changed.</a:t>
            </a:r>
            <a:endParaRPr lang="en-US" sz="1534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release gate people skip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Accessibility</a:t>
            </a:r>
            <a:endParaRPr lang="en-US" sz="4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256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5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scanner is clean-ish. The page is not usable</a:t>
            </a:r>
            <a:endParaRPr lang="en-US" sz="2856" dirty="0"/>
          </a:p>
        </p:txBody>
      </p:sp>
      <p:sp>
        <p:nvSpPr>
          <p:cNvPr id="7" name="Shape 5"/>
          <p:cNvSpPr/>
          <p:nvPr/>
        </p:nvSpPr>
        <p:spPr>
          <a:xfrm>
            <a:off x="685800" y="1517730"/>
            <a:ext cx="10820400" cy="2874112"/>
          </a:xfrm>
          <a:prstGeom prst="roundRect">
            <a:avLst>
              <a:gd name="adj" fmla="val 1909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51773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153678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axe-core 4.12.1 against samples/origin.mjs /a11y — real output, 2026-08-15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CONSOLE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1967310"/>
            <a:ext cx="10439400" cy="229880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 </a:t>
            </a:r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@axe-core/cli http://127.0.0.1:8080/a11y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Violation of "color-contrast" with 3 occurrences!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Violation of "image-alt"      with 1 occurrences!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Violation of "tabindex"       with 1 occurrences!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5 Accessibility issues detected.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Please note that only 20% to 50% of all accessibility issues can</a:t>
            </a:r>
            <a:endParaRPr lang="en-US" sz="1224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224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automatically be detected. Manual testing is always required.</a:t>
            </a:r>
            <a:endParaRPr lang="en-US" sz="1224" dirty="0"/>
          </a:p>
        </p:txBody>
      </p:sp>
      <p:sp>
        <p:nvSpPr>
          <p:cNvPr id="11" name="Shape 9"/>
          <p:cNvSpPr/>
          <p:nvPr/>
        </p:nvSpPr>
        <p:spPr>
          <a:xfrm>
            <a:off x="685800" y="4495474"/>
            <a:ext cx="10820400" cy="1146391"/>
          </a:xfrm>
          <a:prstGeom prst="roundRect">
            <a:avLst>
              <a:gd name="adj" fmla="val 3988"/>
            </a:avLst>
          </a:prstGeom>
          <a:solidFill>
            <a:srgbClr val="3A2E0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4495474"/>
            <a:ext cx="76200" cy="1146391"/>
          </a:xfrm>
          <a:prstGeom prst="rect">
            <a:avLst/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609774"/>
            <a:ext cx="10363200" cy="2202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▲  WATCH OUT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868092"/>
            <a:ext cx="10363200" cy="6213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 last paragraph is printed by the axe CLI itself, unprompted. </a:t>
            </a:r>
            <a:pPr algn="l" indent="0" marL="0">
              <a:lnSpc>
                <a:spcPct val="102256"/>
              </a:lnSpc>
              <a:buNone/>
            </a:pPr>
            <a:r>
              <a:rPr lang="en-US" sz="153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Deque ships their scanner with a disclaimer about their scanner.</a:t>
            </a:r>
            <a:pPr algn="l" indent="0" marL="0">
              <a:lnSpc>
                <a:spcPct val="102256"/>
              </a:lnSpc>
              <a:buNone/>
            </a:pPr>
            <a:r>
              <a:rPr lang="en-US" sz="153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Read it as an instruction, not a footnote.</a:t>
            </a:r>
            <a:endParaRPr lang="en-US" sz="1534" dirty="0"/>
          </a:p>
        </p:txBody>
      </p:sp>
      <p:sp>
        <p:nvSpPr>
          <p:cNvPr id="15" name="Shape 13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Deque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axe-core rule descriptions</a:t>
            </a:r>
            <a:pPr indent="0" marL="0">
              <a:buNone/>
            </a:pPr>
            <a:r>
              <a:rPr lang="en-US" sz="1275" dirty="0">
                <a:solidFill>
                  <a:srgbClr val="2F527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W3C WAI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Meet WCAG 2.2</a:t>
            </a:r>
            <a:endParaRPr lang="en-US" sz="1275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876300"/>
            <a:ext cx="2000250" cy="400050"/>
          </a:xfrm>
          <a:prstGeom prst="roundRect">
            <a:avLst>
              <a:gd name="adj" fmla="val 114286"/>
            </a:avLst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876300"/>
            <a:ext cx="200025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2A1F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 LIVE DEMO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142875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Demo: the scanner, then your hands off the mouse</a:t>
            </a:r>
            <a:endParaRPr lang="en-US" sz="3192" dirty="0"/>
          </a:p>
        </p:txBody>
      </p:sp>
      <p:sp>
        <p:nvSpPr>
          <p:cNvPr id="9" name="Shape 7"/>
          <p:cNvSpPr/>
          <p:nvPr/>
        </p:nvSpPr>
        <p:spPr>
          <a:xfrm>
            <a:off x="685800" y="2119735"/>
            <a:ext cx="5238750" cy="3595265"/>
          </a:xfrm>
          <a:prstGeom prst="roundRect">
            <a:avLst>
              <a:gd name="adj" fmla="val 1272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5350" y="2234035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THIS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914400" y="2576935"/>
            <a:ext cx="4781550" cy="29855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1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Origin running? 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1"/>
            </a:pPr>
            <a:r>
              <a:rPr lang="en-US" sz="216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 origin.mjs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1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1"/>
            </a:pPr>
            <a:r>
              <a:rPr lang="en-US" sz="216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weeks/week05/samples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2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scanner. Read its own disclaimer aloud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3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once into the page, then 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3"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Tab, Enter, Escape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Font typeface="+mj-lt"/>
              <a:buAutoNum type="arabicPeriod" startAt="3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only</a:t>
            </a:r>
            <a:endParaRPr lang="en-US" sz="2160" dirty="0"/>
          </a:p>
        </p:txBody>
      </p:sp>
      <p:sp>
        <p:nvSpPr>
          <p:cNvPr id="12" name="Shape 10"/>
          <p:cNvSpPr/>
          <p:nvPr/>
        </p:nvSpPr>
        <p:spPr>
          <a:xfrm>
            <a:off x="6267450" y="2119735"/>
            <a:ext cx="5238750" cy="2013349"/>
          </a:xfrm>
          <a:prstGeom prst="roundRect">
            <a:avLst>
              <a:gd name="adj" fmla="val 2271"/>
            </a:avLst>
          </a:prstGeom>
          <a:solidFill>
            <a:srgbClr val="17364E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234035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6496050" y="2576935"/>
            <a:ext cx="4781550" cy="9467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52"/>
              </a:spcAft>
              <a:buSzPct val="100000"/>
              <a:buChar char="▪"/>
            </a:pPr>
            <a:r>
              <a:rPr lang="en-US" sz="2208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rules found; Enter does nothing; focus invisible</a:t>
            </a:r>
            <a:endParaRPr lang="en-US" sz="2208" dirty="0"/>
          </a:p>
        </p:txBody>
      </p:sp>
      <p:sp>
        <p:nvSpPr>
          <p:cNvPr id="15" name="Shape 13"/>
          <p:cNvSpPr/>
          <p:nvPr/>
        </p:nvSpPr>
        <p:spPr>
          <a:xfrm>
            <a:off x="6267450" y="4323583"/>
            <a:ext cx="5238750" cy="1391417"/>
          </a:xfrm>
          <a:prstGeom prst="roundRect">
            <a:avLst>
              <a:gd name="adj" fmla="val 3286"/>
            </a:avLst>
          </a:prstGeom>
          <a:solidFill>
            <a:srgbClr val="2C2410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7000" y="4437883"/>
            <a:ext cx="481965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75" b="1" spc="14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IT FAILS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6496050" y="4780783"/>
            <a:ext cx="4781550" cy="8044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Chrome? Do step 3 alone. See </a:t>
            </a:r>
            <a:pPr algn="l" indent="0" marL="0">
              <a:lnSpc>
                <a:spcPct val="102256"/>
              </a:lnSpc>
              <a:buNone/>
            </a:pPr>
            <a:r>
              <a:rPr lang="en-US" sz="206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lab.md</a:t>
            </a:r>
            <a:pPr algn="l" indent="0" marL="0">
              <a:lnSpc>
                <a:spcPct val="102256"/>
              </a:lnSpc>
              <a:buNone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§5b.</a:t>
            </a:r>
            <a:endParaRPr lang="en-US" sz="2064" dirty="0"/>
          </a:p>
        </p:txBody>
      </p:sp>
      <p:sp>
        <p:nvSpPr>
          <p:cNvPr id="18" name="Shape 1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planted defects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lab §5</a:t>
            </a:r>
            <a:endParaRPr lang="en-US" sz="1275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Windows: run the scanner, then open the page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2844356"/>
          </a:xfrm>
          <a:prstGeom prst="roundRect">
            <a:avLst>
              <a:gd name="adj" fmla="val 1929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- repo root; origin on 8080; Chrome at shown path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POWERSHELL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26904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'http://127.0.0.1:8080/a11y'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=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Join-Path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$env:ProgramFiles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'Google\Chrome\Application\chrome.exe'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curl.exe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--noproxy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NUL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-w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"a11y=%{http_code}`n"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First npx use needs internet; adjust the browser path if necessary.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--yes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@axe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-core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--version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--yes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@axe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-core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--chrome-path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</a:t>
            </a:r>
            <a:endParaRPr lang="en-US" sz="1725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Start-Process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-FilePath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-ArgumentList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725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Deque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axe-core CLI</a:t>
            </a:r>
            <a:endParaRPr lang="en-US" sz="1275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macOS: run the scanner, then open the page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3263646"/>
          </a:xfrm>
          <a:prstGeom prst="roundRect">
            <a:avLst>
              <a:gd name="adj" fmla="val 1681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macOS Terminal - repo root; origin on 8080; Chrome installed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BASH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68833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'http://127.0.0.1:8080/a11y'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chrome_dir=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'/Applications/Google Chrome.app/Contents/MacOS'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chrome=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$chrome_dir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/Google Chrome"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 -sS --noproxy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'*'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-o /dev/null -w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'a11y=%{http_code}\n'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First npx use needs internet; adjust the browser path if necessary.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--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@axe-core/cli --version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 --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@axe-core/cli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--chrome-path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$chrome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 -a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"Google Chrome"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Deque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axe-core CLI</a:t>
            </a:r>
            <a:endParaRPr lang="en-US" sz="1275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page, keyboard only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1777670"/>
            <a:ext cx="5219700" cy="4198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6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axe reported</a:t>
            </a:r>
            <a:endParaRPr lang="en-US" sz="2160" dirty="0"/>
          </a:p>
        </p:txBody>
      </p:sp>
      <p:sp>
        <p:nvSpPr>
          <p:cNvPr id="8" name="Text 6"/>
          <p:cNvSpPr/>
          <p:nvPr/>
        </p:nvSpPr>
        <p:spPr>
          <a:xfrm>
            <a:off x="685800" y="2307199"/>
            <a:ext cx="5219700" cy="15398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low-contrast elements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image with no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positive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tabindex</a:t>
            </a:r>
            <a:endParaRPr lang="en-US" sz="2304" dirty="0"/>
          </a:p>
        </p:txBody>
      </p:sp>
      <p:sp>
        <p:nvSpPr>
          <p:cNvPr id="9" name="Text 7"/>
          <p:cNvSpPr/>
          <p:nvPr/>
        </p:nvSpPr>
        <p:spPr>
          <a:xfrm>
            <a:off x="685800" y="3975064"/>
            <a:ext cx="5219700" cy="8873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Lighthouse accessibility: </a:t>
            </a:r>
            <a:pPr algn="l" indent="0" marL="0">
              <a:lnSpc>
                <a:spcPct val="102256"/>
              </a:lnSpc>
              <a:buNone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/ 100</a:t>
            </a:r>
            <a:endParaRPr lang="en-US" sz="2304" dirty="0"/>
          </a:p>
        </p:txBody>
      </p:sp>
      <p:sp>
        <p:nvSpPr>
          <p:cNvPr id="10" name="Text 8"/>
          <p:cNvSpPr/>
          <p:nvPr/>
        </p:nvSpPr>
        <p:spPr>
          <a:xfrm>
            <a:off x="685800" y="4990414"/>
            <a:ext cx="5219700" cy="48938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rule </a:t>
            </a:r>
            <a:pPr algn="l" indent="0" marL="0">
              <a:lnSpc>
                <a:spcPct val="102256"/>
              </a:lnSpc>
              <a:buNone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passed</a:t>
            </a:r>
            <a:pPr algn="l" indent="0" marL="0">
              <a:lnSpc>
                <a:spcPct val="102256"/>
              </a:lnSpc>
              <a:buNone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2 nodes.</a:t>
            </a:r>
            <a:endParaRPr lang="en-US" sz="2304" dirty="0"/>
          </a:p>
        </p:txBody>
      </p:sp>
      <p:sp>
        <p:nvSpPr>
          <p:cNvPr id="11" name="Text 9"/>
          <p:cNvSpPr/>
          <p:nvPr/>
        </p:nvSpPr>
        <p:spPr>
          <a:xfrm>
            <a:off x="6286500" y="1777670"/>
            <a:ext cx="5219700" cy="4198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160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Tab and Enter found</a:t>
            </a:r>
            <a:endParaRPr lang="en-US" sz="2160" dirty="0"/>
          </a:p>
        </p:txBody>
      </p:sp>
      <p:sp>
        <p:nvSpPr>
          <p:cNvPr id="12" name="Text 10"/>
          <p:cNvSpPr/>
          <p:nvPr/>
        </p:nvSpPr>
        <p:spPr>
          <a:xfrm>
            <a:off x="6286500" y="2307199"/>
            <a:ext cx="5219700" cy="36612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is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invisible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:focus { outline: none }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Submit "button" is a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 does nothing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dialog ignores Escape and strands focus</a:t>
            </a:r>
            <a:endParaRPr lang="en-US" sz="2304" dirty="0"/>
          </a:p>
          <a:p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"label" is a 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placeholder</a:t>
            </a:r>
            <a:pPr algn="l" marL="342900" indent="-342900">
              <a:lnSpc>
                <a:spcPct val="105263"/>
              </a:lnSpc>
              <a:spcAft>
                <a:spcPts val="576"/>
              </a:spcAft>
              <a:buSzPct val="100000"/>
              <a:buChar char="▪"/>
            </a:pPr>
            <a:r>
              <a:rPr lang="en-US" sz="230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it vanishes as you type</a:t>
            </a:r>
            <a:endParaRPr lang="en-US" sz="2304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277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52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exact keystrokes, and what to watch for</a:t>
            </a:r>
            <a:endParaRPr lang="en-US" sz="3528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38175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42684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12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</a:t>
                      </a:r>
                      <a:endParaRPr lang="en-US" sz="151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12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</a:t>
                      </a:r>
                      <a:endParaRPr lang="en-US" sz="151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12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Watch for</a:t>
                      </a:r>
                      <a:endParaRPr lang="en-US" sz="1512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724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 ×1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from the address bar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Focus lands on "Back to status" — last visually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724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 ×2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 Building code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placeholder is the only label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4481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any key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Building code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label is gone while you type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481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Enter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Submit report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Nothing happens — it is a div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72479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mouse, then Escape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help dialog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38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It stays open; focus never entered</a:t>
                      </a:r>
                      <a:endParaRPr lang="en-US" sz="1638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W3C WAI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Keyboard accessibility</a:t>
            </a:r>
            <a:endParaRPr lang="en-US" sz="1275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766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9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page proves, and what it does not</a:t>
            </a:r>
            <a:endParaRPr lang="en-US" sz="3192" dirty="0"/>
          </a:p>
        </p:txBody>
      </p:sp>
      <p:sp>
        <p:nvSpPr>
          <p:cNvPr id="7" name="Text 5"/>
          <p:cNvSpPr/>
          <p:nvPr/>
        </p:nvSpPr>
        <p:spPr>
          <a:xfrm>
            <a:off x="685800" y="1577953"/>
            <a:ext cx="10820400" cy="29754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every defect above is a pattern that ships in production code, and the keyboard finds all of them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scanner's own printed disclaimer is its vendor's position, not ours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Fixture: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defect list is curated and documented — a real page has no answer key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Pinned: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3 rules / 5 occurrences is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axe-core 4.12.1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; a newer build may catch more, or fewer</a:t>
            </a:r>
            <a:endParaRPr lang="en-US" sz="1824" dirty="0"/>
          </a:p>
          <a:p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 score: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Lighthouse gave this page 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/ 100</a:t>
            </a:r>
            <a:pPr algn="l" marL="342900" indent="-342900">
              <a:lnSpc>
                <a:spcPct val="105263"/>
              </a:lnSpc>
              <a:spcAft>
                <a:spcPts val="456"/>
              </a:spcAft>
              <a:buSzPct val="100000"/>
              <a:buChar char="▪"/>
            </a:pPr>
            <a:r>
              <a:rPr lang="en-US" sz="182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and a keyboard user cannot submit the form</a:t>
            </a:r>
            <a:endParaRPr lang="en-US" sz="1824" dirty="0"/>
          </a:p>
        </p:txBody>
      </p:sp>
      <p:sp>
        <p:nvSpPr>
          <p:cNvPr id="8" name="Shape 6"/>
          <p:cNvSpPr/>
          <p:nvPr/>
        </p:nvSpPr>
        <p:spPr>
          <a:xfrm>
            <a:off x="685800" y="4654756"/>
            <a:ext cx="10820400" cy="1234644"/>
          </a:xfrm>
          <a:prstGeom prst="roundRect">
            <a:avLst>
              <a:gd name="adj" fmla="val 3703"/>
            </a:avLst>
          </a:prstGeom>
          <a:solidFill>
            <a:srgbClr val="3A2E0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654756"/>
            <a:ext cx="76200" cy="1234644"/>
          </a:xfrm>
          <a:prstGeom prst="rect">
            <a:avLst/>
          </a:prstGeom>
          <a:solidFill>
            <a:srgbClr val="FCD3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769056"/>
            <a:ext cx="10363200" cy="2461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4" b="1" spc="1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▲  WATCH OUT</a:t>
            </a:r>
            <a:endParaRPr lang="en-US" sz="1254" dirty="0"/>
          </a:p>
        </p:txBody>
      </p:sp>
      <p:sp>
        <p:nvSpPr>
          <p:cNvPr id="11" name="Text 9"/>
          <p:cNvSpPr/>
          <p:nvPr/>
        </p:nvSpPr>
        <p:spPr>
          <a:xfrm>
            <a:off x="914400" y="5053282"/>
            <a:ext cx="10363200" cy="6837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15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"The scanner found nothing" is not a result on your own app until you have also done the five-minute keyboard pass. The scan and the pass answer different questions.</a:t>
            </a:r>
            <a:endParaRPr lang="en-US" sz="1715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363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108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five-minute keyboard pass, before every release</a:t>
            </a:r>
            <a:endParaRPr lang="en-US" sz="3108" dirty="0"/>
          </a:p>
        </p:txBody>
      </p:sp>
      <p:sp>
        <p:nvSpPr>
          <p:cNvPr id="7" name="Text 5"/>
          <p:cNvSpPr/>
          <p:nvPr/>
        </p:nvSpPr>
        <p:spPr>
          <a:xfrm>
            <a:off x="685800" y="2035372"/>
            <a:ext cx="10820400" cy="226801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1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from the top.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1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Can you reach every control? Does the order match the visual order?</a:t>
            </a:r>
            <a:endParaRPr lang="en-US" sz="1776" dirty="0"/>
          </a:p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2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you see where you are?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2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If the focus ring is invisible, stop. Everything after this is guesswork</a:t>
            </a:r>
            <a:endParaRPr lang="en-US" sz="1776" dirty="0"/>
          </a:p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3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 and Space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3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everything focusable. Does it do what clicking does?</a:t>
            </a:r>
            <a:endParaRPr lang="en-US" sz="1776" dirty="0"/>
          </a:p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4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 dialog.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4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Does focus move in, stay in, leave on Escape, and return where it started?</a:t>
            </a:r>
            <a:endParaRPr lang="en-US" sz="1776" dirty="0"/>
          </a:p>
          <a:p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5"/>
            </a:pPr>
            <a:r>
              <a:rPr lang="en-US" sz="1776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Cause an error.</a:t>
            </a:r>
            <a:pPr algn="l" marL="342900" indent="-342900">
              <a:lnSpc>
                <a:spcPct val="105263"/>
              </a:lnSpc>
              <a:spcAft>
                <a:spcPts val="444"/>
              </a:spcAft>
              <a:buSzPct val="100000"/>
              <a:buFont typeface="+mj-lt"/>
              <a:buAutoNum type="arabicPeriod" startAt="5"/>
            </a:pPr>
            <a:r>
              <a:rPr lang="en-US" sz="1776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it announced, associated with the field, and readable without colour?</a:t>
            </a:r>
            <a:endParaRPr lang="en-US" sz="1776" dirty="0"/>
          </a:p>
        </p:txBody>
      </p:sp>
      <p:sp>
        <p:nvSpPr>
          <p:cNvPr id="8" name="Shape 6"/>
          <p:cNvSpPr/>
          <p:nvPr/>
        </p:nvSpPr>
        <p:spPr>
          <a:xfrm>
            <a:off x="685800" y="4402068"/>
            <a:ext cx="10820400" cy="1212580"/>
          </a:xfrm>
          <a:prstGeom prst="roundRect">
            <a:avLst>
              <a:gd name="adj" fmla="val 3770"/>
            </a:avLst>
          </a:prstGeom>
          <a:solidFill>
            <a:srgbClr val="10321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402068"/>
            <a:ext cx="76200" cy="1212580"/>
          </a:xfrm>
          <a:prstGeom prst="rect">
            <a:avLst/>
          </a:prstGeom>
          <a:solidFill>
            <a:srgbClr val="86EF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516368"/>
            <a:ext cx="10363200" cy="2396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21" b="1" spc="100" kern="0" dirty="0">
                <a:solidFill>
                  <a:srgbClr val="86EFA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✦  TIP</a:t>
            </a:r>
            <a:endParaRPr lang="en-US" sz="1221" dirty="0"/>
          </a:p>
        </p:txBody>
      </p:sp>
      <p:sp>
        <p:nvSpPr>
          <p:cNvPr id="11" name="Text 9"/>
          <p:cNvSpPr/>
          <p:nvPr/>
        </p:nvSpPr>
        <p:spPr>
          <a:xfrm>
            <a:off x="914400" y="4794117"/>
            <a:ext cx="10363200" cy="6681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669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minutes, no tools, no install. It finds more real defects than any scanner you can buy, and you can run it on the pull request.</a:t>
            </a:r>
            <a:endParaRPr lang="en-US" sz="1669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Windows: the fallbacks, and stopping the origin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3263646"/>
          </a:xfrm>
          <a:prstGeom prst="roundRect">
            <a:avLst>
              <a:gd name="adj" fmla="val 1681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PowerShell - repository root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POWERSHELL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68833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Get-Content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.\weeks\week05\samples\k6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-baseline-summary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.txt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Get-Content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.\weeks\week05\samples\campuspulse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-load-profile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.js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Cleanup: Ctrl+C the origin in Terminal A, and close the tabs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on /a11y, /slow and /fast. That is the whole cleanup.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If 8080 looks busy, LOOK - never end what you did not start: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Get-NetTCPConnection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-LocalPort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8080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-State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Listen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-EA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Ignore |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ForEach-Object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{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Get-Process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CD3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-Id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F3B4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$_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.OwningProcess }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Busy port? Use the saved captures; leave other processes alone.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captured k6 baseline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load profile</a:t>
            </a:r>
            <a:endParaRPr lang="en-US" sz="1275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368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macOS: the fallbacks, and stopping the origin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85800" y="2397100"/>
            <a:ext cx="10820400" cy="2939034"/>
          </a:xfrm>
          <a:prstGeom prst="roundRect">
            <a:avLst>
              <a:gd name="adj" fmla="val 1867"/>
            </a:avLst>
          </a:prstGeom>
          <a:solidFill>
            <a:srgbClr val="050F1A"/>
          </a:solidFill>
          <a:ln w="12700">
            <a:solidFill>
              <a:srgbClr val="5B82A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397100"/>
            <a:ext cx="10820400" cy="323850"/>
          </a:xfrm>
          <a:prstGeom prst="rect">
            <a:avLst/>
          </a:prstGeom>
          <a:solidFill>
            <a:srgbClr val="0B1B2B"/>
          </a:solidFill>
          <a:ln w="12700">
            <a:solidFill>
              <a:srgbClr val="050F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8200" y="2416150"/>
            <a:ext cx="105156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macOS Terminal (zsh or bash) - repository root</a:t>
            </a:r>
            <a:pPr indent="0" marL="0">
              <a:buNone/>
            </a:pPr>
            <a:r>
              <a:rPr lang="en-US" sz="1275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BASH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76300" y="2846680"/>
            <a:ext cx="10439400" cy="236372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 weeks/week05/samples/k6-baseline-summary.txt      </a:t>
            </a:r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q quits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less weeks/week05/samples/campuspulse-load-profile.js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Cleanup: Ctrl-C the origin in Terminal A, and close the tabs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on /a11y, /slow and /fast. That is the whole cleanup.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If 8080 looks busy, LOOK - never end what you did not start: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E8F1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lsof -nP -iTCP:8080 -sTCP:LISTEN</a:t>
            </a:r>
            <a:endParaRPr lang="en-US" sz="1800" dirty="0"/>
          </a:p>
          <a:p>
            <a:pPr indent="0" marL="0">
              <a:lnSpc>
                <a:spcPct val="121368"/>
              </a:lnSpc>
              <a:buNone/>
            </a:pPr>
            <a:r>
              <a:rPr lang="en-US" sz="1800" dirty="0">
                <a:solidFill>
                  <a:srgbClr val="9FB6C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 Busy port? Use the saved captures; leave other processes alone.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captured k6 baseline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load profile</a:t>
            </a:r>
            <a:endParaRPr lang="en-US" sz="1275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209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Knowing before your users tell you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28900"/>
            <a:ext cx="1333500" cy="762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</a:t>
            </a:r>
            <a:endParaRPr lang="en-US" sz="4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59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6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8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telemetry signals</a:t>
            </a:r>
            <a:endParaRPr lang="en-US" sz="3780" dirty="0"/>
          </a:p>
        </p:txBody>
      </p:sp>
      <p:sp>
        <p:nvSpPr>
          <p:cNvPr id="7" name="Text 5"/>
          <p:cNvSpPr/>
          <p:nvPr/>
        </p:nvSpPr>
        <p:spPr>
          <a:xfrm>
            <a:off x="685800" y="1683342"/>
            <a:ext cx="10820400" cy="27386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what happened once, as structured JSON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how often, how slow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Traces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where the time went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 and traces join on </a:t>
            </a:r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</a:t>
            </a:r>
            <a:endParaRPr lang="en-US" sz="2160" dirty="0"/>
          </a:p>
          <a:p>
            <a:pPr algn="l" marL="342900" indent="-342900">
              <a:lnSpc>
                <a:spcPct val="105263"/>
              </a:lnSpc>
              <a:spcAft>
                <a:spcPts val="540"/>
              </a:spcAft>
              <a:buSzPct val="100000"/>
              <a:buChar char="▪"/>
            </a:pPr>
            <a:r>
              <a:rPr lang="en-US" sz="21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link to traces through exemplars — never put trace ids in metric labels</a:t>
            </a:r>
            <a:endParaRPr lang="en-US" sz="2160" dirty="0"/>
          </a:p>
        </p:txBody>
      </p:sp>
      <p:sp>
        <p:nvSpPr>
          <p:cNvPr id="8" name="Shape 6"/>
          <p:cNvSpPr/>
          <p:nvPr/>
        </p:nvSpPr>
        <p:spPr>
          <a:xfrm>
            <a:off x="685800" y="4541985"/>
            <a:ext cx="10820400" cy="1389086"/>
          </a:xfrm>
          <a:prstGeom prst="roundRect">
            <a:avLst>
              <a:gd name="adj" fmla="val 3291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541985"/>
            <a:ext cx="76200" cy="1389086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56285"/>
            <a:ext cx="10363200" cy="291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85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485" dirty="0"/>
          </a:p>
        </p:txBody>
      </p:sp>
      <p:sp>
        <p:nvSpPr>
          <p:cNvPr id="11" name="Text 9"/>
          <p:cNvSpPr/>
          <p:nvPr/>
        </p:nvSpPr>
        <p:spPr>
          <a:xfrm>
            <a:off x="914400" y="4985850"/>
            <a:ext cx="10363200" cy="79282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useful log field here is </a:t>
            </a:r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"cache":"MISS"</a:t>
            </a:r>
            <a:pPr algn="l" indent="0" marL="0">
              <a:lnSpc>
                <a:spcPct val="102256"/>
              </a:lnSpc>
              <a:buNone/>
            </a:pPr>
            <a:r>
              <a:rPr lang="en-US" sz="203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it turns "the API was slow" into "the edge missed."</a:t>
            </a:r>
            <a:endParaRPr lang="en-US" sz="203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10874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SLO is a sentence about users. A dashboard is not</a:t>
            </a:r>
            <a:endParaRPr lang="en-US" sz="3276" dirty="0"/>
          </a:p>
        </p:txBody>
      </p:sp>
      <p:sp>
        <p:nvSpPr>
          <p:cNvPr id="7" name="Text 5"/>
          <p:cNvSpPr/>
          <p:nvPr/>
        </p:nvSpPr>
        <p:spPr>
          <a:xfrm>
            <a:off x="685800" y="2091022"/>
            <a:ext cx="10820400" cy="20528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measurement.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"Proportion of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/api/status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requests served in under 500 ms"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target over a window.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"99% of those, over 28 days"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budget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what the SLO permits you to lose: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1% of eligible requests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Time-based instead?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"99% of one-minute windows are good"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1% of 28 days is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h 43 m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on the SLI burning the budget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not on CPU, not on a single 500</a:t>
            </a:r>
            <a:endParaRPr lang="en-US" sz="1872" dirty="0"/>
          </a:p>
        </p:txBody>
      </p:sp>
      <p:sp>
        <p:nvSpPr>
          <p:cNvPr id="8" name="Shape 6"/>
          <p:cNvSpPr/>
          <p:nvPr/>
        </p:nvSpPr>
        <p:spPr>
          <a:xfrm>
            <a:off x="685800" y="4247863"/>
            <a:ext cx="10820400" cy="1256707"/>
          </a:xfrm>
          <a:prstGeom prst="roundRect">
            <a:avLst>
              <a:gd name="adj" fmla="val 3638"/>
            </a:avLst>
          </a:prstGeom>
          <a:solidFill>
            <a:srgbClr val="3D1717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247863"/>
            <a:ext cx="76200" cy="1256707"/>
          </a:xfrm>
          <a:prstGeom prst="rect">
            <a:avLst/>
          </a:prstGeom>
          <a:solidFill>
            <a:srgbClr val="FCA5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362163"/>
            <a:ext cx="10363200" cy="25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7" b="1" spc="100" kern="0" dirty="0">
                <a:solidFill>
                  <a:srgbClr val="FCA5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■  THIS BREAKS PRODUCTION</a:t>
            </a:r>
            <a:endParaRPr lang="en-US" sz="1287" dirty="0"/>
          </a:p>
        </p:txBody>
      </p:sp>
      <p:sp>
        <p:nvSpPr>
          <p:cNvPr id="11" name="Text 9"/>
          <p:cNvSpPr/>
          <p:nvPr/>
        </p:nvSpPr>
        <p:spPr>
          <a:xfrm>
            <a:off x="914400" y="4652866"/>
            <a:ext cx="10363200" cy="69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alert that fires when nothing is wrong trains people to ignore it. The next one is real, and by then nobody looks. </a:t>
            </a:r>
            <a:pPr algn="l" indent="0" marL="0">
              <a:lnSpc>
                <a:spcPct val="102256"/>
              </a:lnSpc>
              <a:buNone/>
            </a:pPr>
            <a:r>
              <a:rPr lang="en-US" sz="17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fatigue is a design failure, not a discipline failure.</a:t>
            </a:r>
            <a:endParaRPr lang="en-US" sz="1760" dirty="0"/>
          </a:p>
        </p:txBody>
      </p:sp>
      <p:sp>
        <p:nvSpPr>
          <p:cNvPr id="12" name="Shape 10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SRE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 Level Objectives</a:t>
            </a:r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Alerting on SLOs</a:t>
            </a:r>
            <a:endParaRPr lang="en-US" sz="1275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7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Measure and observe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1428750"/>
            <a:ext cx="2667000" cy="400050"/>
          </a:xfrm>
          <a:prstGeom prst="roundRect">
            <a:avLst>
              <a:gd name="adj" fmla="val 114286"/>
            </a:avLst>
          </a:prstGeom>
          <a:solidFill>
            <a:srgbClr val="071320"/>
          </a:solidFill>
          <a:ln w="25400">
            <a:solidFill>
              <a:srgbClr val="FCD3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428750"/>
            <a:ext cx="2667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25" b="1" spc="200" kern="0" dirty="0">
                <a:solidFill>
                  <a:srgbClr val="FCD34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◇  ACTIVE CHECKPOINT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3505200" y="1428750"/>
            <a:ext cx="8001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  ·  Individual silent write (4 min) → write one SLO on paper (2 min) → cold call (4 min)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685800" y="2038350"/>
            <a:ext cx="10820400" cy="17387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12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status page renders in 900 ms but nobody can submit a report. What tells you?</a:t>
            </a:r>
            <a:endParaRPr lang="en-US" sz="3612" dirty="0"/>
          </a:p>
        </p:txBody>
      </p:sp>
      <p:sp>
        <p:nvSpPr>
          <p:cNvPr id="10" name="Text 8"/>
          <p:cNvSpPr/>
          <p:nvPr/>
        </p:nvSpPr>
        <p:spPr>
          <a:xfrm>
            <a:off x="685800" y="3875366"/>
            <a:ext cx="10820400" cy="182148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1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Lighthouse in CI — scored 98 this morning</a:t>
            </a:r>
            <a:endParaRPr lang="en-US" sz="2064" dirty="0"/>
          </a:p>
          <a:p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2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2"/>
            </a:pPr>
            <a:r>
              <a:rPr lang="en-US" sz="206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2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run in the pipeline — zero violations</a:t>
            </a:r>
            <a:endParaRPr lang="en-US" sz="2064" dirty="0"/>
          </a:p>
          <a:p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3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metric: 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3"/>
            </a:pPr>
            <a:r>
              <a:rPr lang="en-US" sz="206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http_requests_total{route="/incidents",status="2xx"}</a:t>
            </a:r>
            <a:endParaRPr lang="en-US" sz="2064" dirty="0"/>
          </a:p>
          <a:p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4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uptime check hitting 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4"/>
            </a:pPr>
            <a:r>
              <a:rPr lang="en-US" sz="2064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/healthz</a:t>
            </a:r>
            <a:pPr algn="l" marL="342900" indent="-342900">
              <a:lnSpc>
                <a:spcPct val="105263"/>
              </a:lnSpc>
              <a:spcAft>
                <a:spcPts val="516"/>
              </a:spcAft>
              <a:buSzPct val="100000"/>
              <a:buFont typeface="+mj-lt"/>
              <a:buAutoNum type="arabicPeriod" startAt="4"/>
            </a:pPr>
            <a:r>
              <a:rPr lang="en-US" sz="2064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every 60 s</a:t>
            </a:r>
            <a:endParaRPr lang="en-US" sz="2064" dirty="0"/>
          </a:p>
        </p:txBody>
      </p:sp>
      <p:sp>
        <p:nvSpPr>
          <p:cNvPr id="11" name="Shape 9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 SRE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Service Level Objectives</a:t>
            </a:r>
            <a:endParaRPr lang="en-US" sz="1275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Individual practice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66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78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Individual lab: cache and experience</a:t>
            </a:r>
            <a:endParaRPr lang="en-US" sz="3780" dirty="0"/>
          </a:p>
        </p:txBody>
      </p:sp>
      <p:sp>
        <p:nvSpPr>
          <p:cNvPr id="7" name="Text 5"/>
          <p:cNvSpPr/>
          <p:nvPr/>
        </p:nvSpPr>
        <p:spPr>
          <a:xfrm>
            <a:off x="685800" y="1683342"/>
            <a:ext cx="10820400" cy="4645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Core: 30 min + 5 min recovery. Parts 1 and 3 are optional.</a:t>
            </a:r>
            <a:endParaRPr lang="en-US" sz="216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67872"/>
          <a:ext cx="10820400" cy="914400"/>
        </p:xfrm>
        <a:graphic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4450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</a:t>
                      </a:r>
                      <a:endParaRPr lang="en-US" sz="16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Focus</a:t>
                      </a:r>
                      <a:endParaRPr lang="en-US" sz="16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20" b="1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</a:t>
                      </a:r>
                      <a:endParaRPr lang="en-US" sz="162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363"/>
                    </a:solidFill>
                  </a:tcPr>
                </a:tc>
              </a:tr>
              <a:tr h="7643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Two terminals, two synthetic accounts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678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Observe all four cache states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4678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account-page isolation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  <a:tr h="4678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axe plus keyboard access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44B"/>
                    </a:solidFill>
                  </a:tcPr>
                </a:tc>
              </a:tr>
              <a:tr h="46788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SLI, SLO, and alert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55" dirty="0">
                          <a:solidFill>
                            <a:srgbClr val="F3F8F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75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27000" marR="127000" marT="76200" marB="76200" anchor="t">
                    <a:lnL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F527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5867400"/>
            <a:ext cx="10820400" cy="9525"/>
          </a:xfrm>
          <a:prstGeom prst="rect">
            <a:avLst/>
          </a:prstGeom>
          <a:solidFill>
            <a:srgbClr val="2F52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924550"/>
            <a:ext cx="10820400" cy="32385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75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Course — </a:t>
            </a:r>
            <a:pPr indent="0" marL="0">
              <a:buNone/>
            </a:pPr>
            <a:r>
              <a:rPr lang="en-US" sz="1275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Week 5 lab: full commands, expected output, and troubleshooting</a:t>
            </a:r>
            <a:endParaRPr lang="en-US" sz="1275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Homework brief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63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589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276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HW5 — Own the Edge</a:t>
            </a:r>
            <a:endParaRPr lang="en-US" sz="3276" dirty="0"/>
          </a:p>
        </p:txBody>
      </p:sp>
      <p:sp>
        <p:nvSpPr>
          <p:cNvPr id="7" name="Text 5"/>
          <p:cNvSpPr/>
          <p:nvPr/>
        </p:nvSpPr>
        <p:spPr>
          <a:xfrm>
            <a:off x="685800" y="1593008"/>
            <a:ext cx="10820400" cy="27779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CDN in front of your domain and build a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cache-policy matrix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 at least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content classes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each with its layer, key, invalidation, and rationale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app-layer cache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(cache-aside, Redis or memory) with HIT/MISS evidence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 all four cache states, and reproduce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revert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cache-poisoning near-miss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 against a stated performance budget and pilot your own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web-vitals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record a keyboard-only walkthrough that finds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 1 defect the scan missed</a:t>
            </a:r>
            <a:endParaRPr lang="en-US" sz="1872" dirty="0"/>
          </a:p>
          <a:p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 up one SLI, one SLO, and one alert that has </a:t>
            </a:r>
            <a:pPr algn="l" marL="342900" indent="-342900">
              <a:lnSpc>
                <a:spcPct val="105263"/>
              </a:lnSpc>
              <a:spcAft>
                <a:spcPts val="468"/>
              </a:spcAft>
              <a:buSzPct val="100000"/>
              <a:buChar char="▪"/>
            </a:pPr>
            <a:r>
              <a:rPr lang="en-US" sz="187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actually fired</a:t>
            </a:r>
            <a:endParaRPr lang="en-US" sz="1872" dirty="0"/>
          </a:p>
        </p:txBody>
      </p:sp>
      <p:sp>
        <p:nvSpPr>
          <p:cNvPr id="8" name="Shape 6"/>
          <p:cNvSpPr/>
          <p:nvPr/>
        </p:nvSpPr>
        <p:spPr>
          <a:xfrm>
            <a:off x="685800" y="4474968"/>
            <a:ext cx="10820400" cy="1256707"/>
          </a:xfrm>
          <a:prstGeom prst="roundRect">
            <a:avLst>
              <a:gd name="adj" fmla="val 3638"/>
            </a:avLst>
          </a:prstGeom>
          <a:solidFill>
            <a:srgbClr val="0E3A38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4474968"/>
            <a:ext cx="76200" cy="1256707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589268"/>
            <a:ext cx="10363200" cy="2526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7" b="1" spc="100" kern="0" dirty="0">
                <a:solidFill>
                  <a:srgbClr val="5EEAD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◆  KEY IDEA</a:t>
            </a:r>
            <a:endParaRPr lang="en-US" sz="1287" dirty="0"/>
          </a:p>
        </p:txBody>
      </p:sp>
      <p:sp>
        <p:nvSpPr>
          <p:cNvPr id="11" name="Text 9"/>
          <p:cNvSpPr/>
          <p:nvPr/>
        </p:nvSpPr>
        <p:spPr>
          <a:xfrm>
            <a:off x="914400" y="4879971"/>
            <a:ext cx="10363200" cy="69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256"/>
              </a:lnSpc>
              <a:buNone/>
            </a:pPr>
            <a:r>
              <a:rPr lang="en-US" sz="17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points · individual · due at the start of Week 6, before the midterm. This is Gate 3 — Delivered and observable. Full handout: </a:t>
            </a:r>
            <a:pPr algn="l" indent="0" marL="0">
              <a:lnSpc>
                <a:spcPct val="102256"/>
              </a:lnSpc>
              <a:buNone/>
            </a:pPr>
            <a:r>
              <a:rPr lang="en-US" sz="1760" u="sng" dirty="0">
                <a:solidFill>
                  <a:srgbClr val="5EEAD4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homework.md</a:t>
            </a:r>
            <a:pPr algn="l" indent="0" marL="0">
              <a:lnSpc>
                <a:spcPct val="102256"/>
              </a:lnSpc>
              <a:buNone/>
            </a:pPr>
            <a:r>
              <a:rPr lang="en-US" sz="1760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76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5EEA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285750"/>
            <a:ext cx="85725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20" kern="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W05·C</a:t>
            </a:r>
            <a:pPr indent="0" marL="0">
              <a:buNone/>
            </a:pPr>
            <a:r>
              <a:rPr lang="en-US" sz="1350" spc="120" kern="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Closing logistics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85800" y="6286500"/>
            <a:ext cx="7239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CSC 436 — Web Application Systems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9525000" y="6286500"/>
            <a:ext cx="1981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64</a:t>
            </a:r>
            <a:pPr algn="r" indent="0" marL="0">
              <a:buNone/>
            </a:pPr>
            <a:r>
              <a:rPr lang="en-US" sz="1350" dirty="0">
                <a:solidFill>
                  <a:srgbClr val="B6CC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64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914400"/>
            <a:ext cx="10820400" cy="729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200" b="1" dirty="0">
                <a:solidFill>
                  <a:srgbClr val="F3F8F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you leave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1777670"/>
            <a:ext cx="5219700" cy="4266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0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Released today</a:t>
            </a:r>
            <a:endParaRPr lang="en-US" sz="2205" dirty="0"/>
          </a:p>
        </p:txBody>
      </p:sp>
      <p:sp>
        <p:nvSpPr>
          <p:cNvPr id="8" name="Text 6"/>
          <p:cNvSpPr/>
          <p:nvPr/>
        </p:nvSpPr>
        <p:spPr>
          <a:xfrm>
            <a:off x="685800" y="2316326"/>
            <a:ext cx="5219700" cy="366095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midterm blueprint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 forensic case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midterm is Week 6.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Sit the practice case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week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closed-book and timed, while Weeks 1–5 are still warm</a:t>
            </a:r>
            <a:endParaRPr lang="en-US" sz="2352" dirty="0"/>
          </a:p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complete the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u="sng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Week 6 prep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before class</a:t>
            </a:r>
            <a:endParaRPr lang="en-US" sz="2352" dirty="0"/>
          </a:p>
        </p:txBody>
      </p:sp>
      <p:sp>
        <p:nvSpPr>
          <p:cNvPr id="9" name="Text 7"/>
          <p:cNvSpPr/>
          <p:nvPr/>
        </p:nvSpPr>
        <p:spPr>
          <a:xfrm>
            <a:off x="6286500" y="1777670"/>
            <a:ext cx="5219700" cy="4266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05" b="1" dirty="0">
                <a:solidFill>
                  <a:srgbClr val="B6CCD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Exit ticket — one line</a:t>
            </a:r>
            <a:endParaRPr lang="en-US" sz="2205" dirty="0"/>
          </a:p>
        </p:txBody>
      </p:sp>
      <p:sp>
        <p:nvSpPr>
          <p:cNvPr id="10" name="Text 8"/>
          <p:cNvSpPr/>
          <p:nvPr/>
        </p:nvSpPr>
        <p:spPr>
          <a:xfrm>
            <a:off x="6286500" y="2316326"/>
            <a:ext cx="5219700" cy="18388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dirty="0">
                <a:solidFill>
                  <a:srgbClr val="F3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one SLO for a feature on your own project, in the form: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"X% of 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</a:t>
            </a:r>
            <a:pPr algn="l" marL="342900" indent="-342900">
              <a:lnSpc>
                <a:spcPct val="105263"/>
              </a:lnSpc>
              <a:spcAft>
                <a:spcPts val="588"/>
              </a:spcAft>
              <a:buSzPct val="100000"/>
              <a:buChar char="▪"/>
            </a:pPr>
            <a:r>
              <a:rPr lang="en-US" sz="2352" i="1" dirty="0">
                <a:solidFill>
                  <a:srgbClr val="FCD3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complete in under Y, measured over Z days."</a:t>
            </a:r>
            <a:endParaRPr lang="en-US" sz="235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DePaul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Delivery, Caching, and What the User Actually Experiences — Week 5 Full session</dc:title>
  <dc:subject>Review, preparation, logistics, teaching, individual practice, and the end-of-class brief</dc:subject>
  <dc:creator>Course staff</dc:creator>
  <cp:lastModifiedBy>Course staff</cp:lastModifiedBy>
  <cp:revision>1</cp:revision>
  <dcterms:created xsi:type="dcterms:W3CDTF">2026-10-04T22:48:21Z</dcterms:created>
  <dcterms:modified xsi:type="dcterms:W3CDTF">2026-10-04T22:48:21Z</dcterms:modified>
</cp:coreProperties>
</file>