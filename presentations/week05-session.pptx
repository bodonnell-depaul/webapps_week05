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review; source Block A,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review; source Block A,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prelecture; source Block A,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logistics; source Block A,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7.
SOURCES:
Cloudflare — [Global network](https://www.cloudflare.com/network/)
Amazon — [What is Amazon CloudFront?](https://docs.aws.amazon.com/AmazonCloudFront/latest/DeveloperGuide/Introduction.html)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8.
SOURCES:
Cloudflare — [Global network](https://www.cloudflare.com/network/)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11.
SOURCES:
Netflix — [How Netflix works with ISPs around the globe](https://about.netflix.com/en/news/how-netflix-works-with-isps-around-the-globe-to-deliver-a-great-viewing-experience)
Netflix — [Open Connect overview (PDF)](https://openconnect.netflix.com/Open-Connect-Overview.pdf)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12.
SOURCES:
Apple Developer — [HTTP Live Streaming](https://developer.apple.com/documentation/http-live-streaming)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13.
SOURCES:
Netflix — [Open Connect appliances](https://openconnect.netflix.com/en/appliances/)
Netflix — [Open Connect peering](https://openconnect.netflix.com/en/peering/)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14.
SOURCES:
Netflix — [How Netflix works with ISPs around the globe](https://about.netflix.com/en/news/how-netflix-works-with-isps-around-the-globe-to-deliver-a-great-viewing-experience)
Netflix — [Open Connect](https://openconnect.netflix.com/en/)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15.
SOURCES:
Streaming Media — [Disney Streaming on multi-CDN load balancing](https://www.streamingmedia.com/Articles/ReadArticle.aspx?ArticleID=145721)
Streaming Media — [Disney Streaming on QoE metrics](https://www.streamingmedia.com/Articles/ReadArticle.aspx?ArticleID=150246)
TechCrunch — [How WBD made Max less buggy (2023)](https://techcrunch.com/2023/05/05/warner-bros-discovery-cto-and-cpo-explain-how-they-made-max-less-buggy/)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7.
SOURCES:
MDN — [Web caching](https://developer.mozilla.org/en-US/docs/Web/HTTP/Guides/Caching)
Cloudflare — [Understanding cache responses](https://developers.cloudflare.com/cache/how-to/understanding-cache-status/)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3.
SOURCES:
Course — [Editable streaming architecture diagram](../diagrams/video-on-demand.drawio)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5.
SOURCES:
Netflix — [Open Connect content delivery](https://openconnect.netflix.com/)
Streaming Media — [Disney Streaming on multi-CDN load balancing](https://www.streamingmedia.com/Articles/ReadArticle.aspx?ArticleID=145721)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6.
SOURCES:
Course — [Editable meeting architecture diagram](../diagrams/real-time-meeting.drawio)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practice; source Block C,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homework; source Block C,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closing; source Block C,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loudflare.com/network/" TargetMode="External"/><Relationship Id="rId2" Type="http://schemas.openxmlformats.org/officeDocument/2006/relationships/hyperlink" Target="https://docs.aws.amazon.com/AmazonCloudFront/latest/DeveloperGuide/Introduction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loudflare.com/network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netflix.com/en/news/how-netflix-works-with-isps-around-the-globe-to-deliver-a-great-viewing-experience" TargetMode="External"/><Relationship Id="rId4" Type="http://schemas.openxmlformats.org/officeDocument/2006/relationships/hyperlink" Target="https://openconnect.netflix.com/Open-Connect-Overview.pdf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apple.com/documentation/http-live-stream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onnect.netflix.com/en/appliances/" TargetMode="External"/><Relationship Id="rId4" Type="http://schemas.openxmlformats.org/officeDocument/2006/relationships/hyperlink" Target="https://openconnect.netflix.com/en/peering/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about.netflix.com/en/news/how-netflix-works-with-isps-around-the-globe-to-deliver-a-great-viewing-experience" TargetMode="External"/><Relationship Id="rId2" Type="http://schemas.openxmlformats.org/officeDocument/2006/relationships/hyperlink" Target="https://openconnect.netflix.com/en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treamingmedia.com/Articles/ReadArticle.aspx?ArticleID=145721" TargetMode="External"/><Relationship Id="rId2" Type="http://schemas.openxmlformats.org/officeDocument/2006/relationships/hyperlink" Target="https://www.streamingmedia.com/Articles/ReadArticle.aspx?ArticleID=150246" TargetMode="External"/><Relationship Id="rId3" Type="http://schemas.openxmlformats.org/officeDocument/2006/relationships/hyperlink" Target="https://techcrunch.com/2023/05/05/warner-bros-discovery-cto-and-cpo-explain-how-they-made-max-less-buggy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HTTP/Guides/Caching" TargetMode="External"/><Relationship Id="rId2" Type="http://schemas.openxmlformats.org/officeDocument/2006/relationships/hyperlink" Target="https://developers.cloudflare.com/cache/how-to/understanding-cache-statu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../diagrams/video-on-demand.drawio" TargetMode="External"/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connect.netflix.com/" TargetMode="External"/><Relationship Id="rId2" Type="http://schemas.openxmlformats.org/officeDocument/2006/relationships/hyperlink" Target="https://www.streamingmedia.com/Articles/ReadArticle.aspx?ArticleID=14572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../diagrams/real-time-meeting.drawio" TargetMode="External"/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550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Delivery, Caching, and What the User Actually Experiences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3703472"/>
            <a:ext cx="9525000" cy="1173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Review, preparation, logistics, teaching, individual practice, and the end-of-class brief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581275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58127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5 · Full session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1375" y="4991100"/>
            <a:ext cx="1533525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1375" y="4991100"/>
            <a:ext cx="153352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2026-10-04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HW4 site lives in one place. Your users do not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HW4 gave you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685800" y="2945679"/>
            <a:ext cx="5219700" cy="2768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own domain, live, over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pipeline that deploys and can roll back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container answering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/healthz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in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region</a:t>
            </a:r>
            <a:endParaRPr lang="en-US" sz="2304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today adds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6286500" y="2945679"/>
            <a:ext cx="5219700" cy="2768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layer of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copies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between your users and that one container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Those copies live in hundreds of buildings, near people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Deciding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may be copied is a design job — and a security one</a:t>
            </a:r>
            <a:endParaRPr lang="en-US" sz="230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Prelecture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1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 debrief: what the readings should have left you with</a:t>
            </a:r>
            <a:endParaRPr lang="en-US" sz="3360" dirty="0"/>
          </a:p>
        </p:txBody>
      </p:sp>
      <p:sp>
        <p:nvSpPr>
          <p:cNvPr id="7" name="Text 5"/>
          <p:cNvSpPr/>
          <p:nvPr/>
        </p:nvSpPr>
        <p:spPr>
          <a:xfrm>
            <a:off x="685800" y="2118848"/>
            <a:ext cx="10820400" cy="2383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Q1: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CDN is a fleet of caching servers in many cities; a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one of those sites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Q2: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Netflix's Open Connect places its own servers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ISP networks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free to the ISP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— hands up first: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no-cache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 "do not cache"? No. It means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before reuse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Q4: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three Core Web Vitals are LCP, INP, CLS —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 replaced FID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March 2024</a:t>
            </a:r>
            <a:endParaRPr lang="en-US" sz="1920" dirty="0"/>
          </a:p>
        </p:txBody>
      </p:sp>
      <p:sp>
        <p:nvSpPr>
          <p:cNvPr id="8" name="Shape 6"/>
          <p:cNvSpPr/>
          <p:nvPr/>
        </p:nvSpPr>
        <p:spPr>
          <a:xfrm>
            <a:off x="685800" y="4609064"/>
            <a:ext cx="10820400" cy="1278770"/>
          </a:xfrm>
          <a:prstGeom prst="roundRect">
            <a:avLst>
              <a:gd name="adj" fmla="val 357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609064"/>
            <a:ext cx="76200" cy="127877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23364"/>
            <a:ext cx="10363200" cy="25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5020544"/>
            <a:ext cx="10363200" cy="714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prep gave you vocabulary. Class time gives you the map: where copies live, who owns them, and what goes wrong when the wrong thing is copied.</a:t>
            </a:r>
            <a:endParaRPr lang="en-US" sz="180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today runs, and what you need on hand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41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1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180 minutes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685800" y="2936552"/>
            <a:ext cx="5219700" cy="2856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A (30) → checkpoint (10)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B (30) → checkpoint (10)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(10)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hard stop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C (25) → checkpoint (10)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lab (35), then the HW5 brief and exit ticket</a:t>
            </a:r>
            <a:endParaRPr lang="en-US" sz="2256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41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1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ready, right now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6286500" y="2936552"/>
            <a:ext cx="5219700" cy="2713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browser — the first demo is in about eight minutes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24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this week's 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samples/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Block B and the lab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HW4 deployment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a free CDN account for the homework</a:t>
            </a:r>
            <a:endParaRPr lang="en-US" sz="22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problems no amount of server tuning fixes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009855"/>
          </a:xfrm>
          <a:prstGeom prst="roundRect">
            <a:avLst>
              <a:gd name="adj" fmla="val 452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00985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78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19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19" dirty="0"/>
          </a:p>
        </p:txBody>
      </p:sp>
      <p:sp>
        <p:nvSpPr>
          <p:cNvPr id="10" name="Text 8"/>
          <p:cNvSpPr/>
          <p:nvPr/>
        </p:nvSpPr>
        <p:spPr>
          <a:xfrm>
            <a:off x="914400" y="2847061"/>
            <a:ext cx="10363200" cy="42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both: </a:t>
            </a:r>
            <a:pPr algn="l" indent="0" marL="0">
              <a:lnSpc>
                <a:spcPct val="102256"/>
              </a:lnSpc>
              <a:buNone/>
            </a:pPr>
            <a:r>
              <a:rPr lang="en-US" sz="19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copies of popular bytes close to the people asking.</a:t>
            </a:r>
            <a:pPr algn="l" indent="0" marL="0">
              <a:lnSpc>
                <a:spcPct val="102256"/>
              </a:lnSpc>
              <a:buNone/>
            </a:pP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is a CDN.</a:t>
            </a:r>
            <a:endParaRPr lang="en-US" sz="1940" dirty="0"/>
          </a:p>
        </p:txBody>
      </p:sp>
      <p:sp>
        <p:nvSpPr>
          <p:cNvPr id="11" name="Text 9"/>
          <p:cNvSpPr/>
          <p:nvPr/>
        </p:nvSpPr>
        <p:spPr>
          <a:xfrm>
            <a:off x="685800" y="3595169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Distance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685800" y="4042556"/>
            <a:ext cx="5219700" cy="1601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 in fiber: about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200,000 km/s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Sydney ↔ Virginia: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≥ 160 ms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 round trip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page load needs several round trips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6286500" y="3595169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Crowds</a:t>
            </a:r>
            <a:endParaRPr lang="en-US" sz="1755" dirty="0"/>
          </a:p>
        </p:txBody>
      </p:sp>
      <p:sp>
        <p:nvSpPr>
          <p:cNvPr id="14" name="Text 12"/>
          <p:cNvSpPr/>
          <p:nvPr/>
        </p:nvSpPr>
        <p:spPr>
          <a:xfrm>
            <a:off x="6286500" y="4042556"/>
            <a:ext cx="5219700" cy="19339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p.m. premiere: millions press play at once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origin has one set of network links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 requests for the same bytes waste work</a:t>
            </a:r>
            <a:endParaRPr lang="en-US" sz="187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CDN puts a copy one short hop from each user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31616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77840"/>
            <a:ext cx="10820400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 CDN every request crosses the ocean. With one, only cache misses do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your request finds the nearest PoP</a:t>
            </a:r>
            <a:endParaRPr lang="en-US" sz="3696" dirty="0"/>
          </a:p>
        </p:txBody>
      </p:sp>
      <p:sp>
        <p:nvSpPr>
          <p:cNvPr id="7" name="Text 5"/>
          <p:cNvSpPr/>
          <p:nvPr/>
        </p:nvSpPr>
        <p:spPr>
          <a:xfrm>
            <a:off x="685800" y="1668286"/>
            <a:ext cx="10820400" cy="3873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of presence (PoP)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rack of servers in a building where many networks meet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CDNs run hundreds of PoPs; Cloudflare lists data centers in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330+ cities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Anycast: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 PoP announces the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IP address; internet routing delivers you to a nearby one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steering: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CDN's DNS answers with the address of a PoP chosen for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PoP has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cache — "it's cached" is never a global statement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a miss, PoPs often ask a regional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shield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cache first, so the origin sees one request, not hundreds</a:t>
            </a:r>
            <a:endParaRPr lang="en-US" sz="2112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 network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Amazon CloudFront?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Demo: which PoP is serving you right now?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183583"/>
            <a:ext cx="5238750" cy="3531417"/>
          </a:xfrm>
          <a:prstGeom prst="roundRect">
            <a:avLst>
              <a:gd name="adj" fmla="val 129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640783"/>
            <a:ext cx="4781550" cy="27282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1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1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https://www.cloudflare.com/cdn-cgi/trace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1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any browser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2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2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colo=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2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line — an airport code (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2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2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Chicago O'Hare)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3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 on your phone with Wi-Fi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3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3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compare with a neighbor</a:t>
            </a:r>
            <a:endParaRPr lang="en-US" sz="1968" dirty="0"/>
          </a:p>
        </p:txBody>
      </p:sp>
      <p:sp>
        <p:nvSpPr>
          <p:cNvPr id="12" name="Shape 10"/>
          <p:cNvSpPr/>
          <p:nvPr/>
        </p:nvSpPr>
        <p:spPr>
          <a:xfrm>
            <a:off x="6267450" y="2183583"/>
            <a:ext cx="5238750" cy="1977594"/>
          </a:xfrm>
          <a:prstGeom prst="roundRect">
            <a:avLst>
              <a:gd name="adj" fmla="val 2312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640783"/>
            <a:ext cx="4781550" cy="139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Laptops on campus Wi-Fi show the same code; a phone on cellular may differ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ip=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shows the address the PoP saw;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http=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shows the HTTP version used</a:t>
            </a:r>
            <a:endParaRPr lang="en-US" sz="1680" dirty="0"/>
          </a:p>
        </p:txBody>
      </p:sp>
      <p:sp>
        <p:nvSpPr>
          <p:cNvPr id="15" name="Shape 13"/>
          <p:cNvSpPr/>
          <p:nvPr/>
        </p:nvSpPr>
        <p:spPr>
          <a:xfrm>
            <a:off x="6267450" y="4351676"/>
            <a:ext cx="5238750" cy="1363324"/>
          </a:xfrm>
          <a:prstGeom prst="roundRect">
            <a:avLst>
              <a:gd name="adj" fmla="val 3354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465976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808876"/>
            <a:ext cx="4781550" cy="738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captured trace in the speaker notes aloud and point at </a:t>
            </a:r>
            <a:pPr algn="l" indent="0" marL="0">
              <a:lnSpc>
                <a:spcPct val="102256"/>
              </a:lnSpc>
              <a:buNone/>
            </a:pPr>
            <a:r>
              <a:rPr lang="en-US" sz="187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colo=</a:t>
            </a:r>
            <a:pPr algn="l" indent="0" marL="0">
              <a:lnSpc>
                <a:spcPct val="102256"/>
              </a:lnSpc>
              <a:buNone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872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 network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modern edge does far more than store files</a:t>
            </a:r>
            <a:endParaRPr lang="en-US" sz="3276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930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0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Edge service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 for you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you meet it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Static caching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Serves JS, CSS, images, video segments from the PoP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CDN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micro-caching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Shares a public JSON answer for a few seconds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 B's /api/status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TLS termination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Finishes the HTTPS handshake near the user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HW4's certificate, now at the edge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Compression and images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Brotli/gzip, resizing, modern image formats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 B, HW5 Task 4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DDoS absorption, WAF rules, bot filtering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 8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Edge functions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Small programs that run in the PoP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Cloudflare Workers, Lambda@Edge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largest CDN workloads on earth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streaming reaches the world</a:t>
            </a:r>
            <a:endParaRPr lang="en-US" sz="4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systems: the app you browse, and the pipe that plays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6206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0368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everything before you press play runs in the cloud; everything after comes from Open Connect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Netflix works with ISPs around the globe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Connect overview (PDF)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movie is thousands of small, cacheable files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038396"/>
          </a:xfrm>
          <a:prstGeom prst="roundRect">
            <a:avLst>
              <a:gd name="adj" fmla="val 440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03839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0" name="Text 8"/>
          <p:cNvSpPr/>
          <p:nvPr/>
        </p:nvSpPr>
        <p:spPr>
          <a:xfrm>
            <a:off x="914400" y="2860015"/>
            <a:ext cx="10363200" cy="442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becomes ordinary HTTP requests for files that never change.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629805"/>
            <a:ext cx="5219700" cy="317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8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Encode once, many ways</a:t>
            </a:r>
            <a:endParaRPr lang="en-US" sz="1485" dirty="0"/>
          </a:p>
        </p:txBody>
      </p:sp>
      <p:sp>
        <p:nvSpPr>
          <p:cNvPr id="12" name="Text 10"/>
          <p:cNvSpPr/>
          <p:nvPr/>
        </p:nvSpPr>
        <p:spPr>
          <a:xfrm>
            <a:off x="685800" y="4022432"/>
            <a:ext cx="5219700" cy="10872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ladder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versions: 240p up to 4K</a:t>
            </a:r>
            <a:endParaRPr lang="en-US" sz="1584" dirty="0"/>
          </a:p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cut into 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segments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a few seconds</a:t>
            </a:r>
            <a:endParaRPr lang="en-US" sz="1584" dirty="0"/>
          </a:p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(HLS or DASH) lists the URLs</a:t>
            </a:r>
            <a:endParaRPr lang="en-US" sz="1584" dirty="0"/>
          </a:p>
        </p:txBody>
      </p:sp>
      <p:sp>
        <p:nvSpPr>
          <p:cNvPr id="13" name="Text 11"/>
          <p:cNvSpPr/>
          <p:nvPr/>
        </p:nvSpPr>
        <p:spPr>
          <a:xfrm>
            <a:off x="6286500" y="3629805"/>
            <a:ext cx="5219700" cy="317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8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 adaptively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6286500" y="4022432"/>
            <a:ext cx="5219700" cy="1650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reads the manifest, then fetches segments</a:t>
            </a:r>
            <a:endParaRPr lang="en-US" sz="1584" dirty="0"/>
          </a:p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bitrate: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slow network → lower rung</a:t>
            </a:r>
            <a:endParaRPr lang="en-US" sz="1584" dirty="0"/>
          </a:p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Segments never change: 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static, shareable files</a:t>
            </a:r>
            <a:endParaRPr lang="en-US" sz="1584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Developer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 Live Streaming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Netflix Open Connect: the "last mile" is the point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894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11140"/>
            <a:ext cx="10820400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Connect fills appliances off-peak, so the evening rush is served from inside your ISP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Connect appliances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Connect peering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3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4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Netflix built its own CDN instead of renting one</a:t>
            </a:r>
            <a:endParaRPr lang="en-US" sz="2940" dirty="0"/>
          </a:p>
        </p:txBody>
      </p:sp>
      <p:sp>
        <p:nvSpPr>
          <p:cNvPr id="7" name="Text 5"/>
          <p:cNvSpPr/>
          <p:nvPr/>
        </p:nvSpPr>
        <p:spPr>
          <a:xfrm>
            <a:off x="685800" y="1532786"/>
            <a:ext cx="10820400" cy="2747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Scale: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Open Connect has carried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Netflix video since it launched (built 2011, announced 2012)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Placement: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close to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that traffic flows over direct connections to residential ISPs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boxes: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qualifying ISPs get appliances at no charge — and stop paying to haul Netflix over transit links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Predictability: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known catalog can be pushed off-peak; a general CDN can only react to requests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Specialization: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per-server throughput grew from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Gbps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(2012) to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90 Gbps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(2016)</a:t>
            </a:r>
            <a:endParaRPr lang="en-US" sz="1680" dirty="0"/>
          </a:p>
        </p:txBody>
      </p:sp>
      <p:sp>
        <p:nvSpPr>
          <p:cNvPr id="8" name="Shape 6"/>
          <p:cNvSpPr/>
          <p:nvPr/>
        </p:nvSpPr>
        <p:spPr>
          <a:xfrm>
            <a:off x="685800" y="4373903"/>
            <a:ext cx="10820400" cy="1168454"/>
          </a:xfrm>
          <a:prstGeom prst="roundRect">
            <a:avLst>
              <a:gd name="adj" fmla="val 391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73903"/>
            <a:ext cx="76200" cy="1168454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88203"/>
            <a:ext cx="10363200" cy="226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752998"/>
            <a:ext cx="10363200" cy="636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Netflix's CDN is a partnership with ISPs, not just hardware. Both sides save money, and viewers get a stream that starts one hop from home.</a:t>
            </a:r>
            <a:endParaRPr lang="en-US" sz="1579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Netflix works with ISPs around the globe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Connect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766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platforms, three delivery strategies</a:t>
            </a:r>
            <a:endParaRPr lang="en-US" sz="3192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77953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633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6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Netflix</a:t>
                      </a:r>
                      <a:endParaRPr lang="en-US" sz="136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Disney+</a:t>
                      </a:r>
                      <a:endParaRPr lang="en-US" sz="136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Max (Warner Bros. Discovery)</a:t>
                      </a:r>
                      <a:endParaRPr lang="en-US" sz="136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922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Video delivery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 CDN: Open Connect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Several CDN partners, incl. on-net caches in ISPs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Four commercial CDNs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922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or buy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Builds its own appliances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Rents several; builds its own load balancer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Rents: CloudFront, Google Cloud CDN, Akamai, Fastly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922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a CDN is picked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Netflix steers to its own servers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Partners scored on rebuffering, start time, failures, bitrate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Multi-CDN for resilience at more than an exabyte a month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720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 plane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Streaming platform built from BAMTech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as primary cloud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Media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Disney Streaming on multi-CDN load balancing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Media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Disney Streaming on QoE metrics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TechCrunch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WBD made Max less buggy (2023)</a:t>
            </a:r>
            <a:endParaRPr lang="en-US" sz="12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events break the "copy it in advance" trick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live is hard</a:t>
            </a:r>
            <a:endParaRPr lang="en-US" sz="1755" dirty="0"/>
          </a:p>
        </p:txBody>
      </p:sp>
      <p:sp>
        <p:nvSpPr>
          <p:cNvPr id="8" name="Text 6"/>
          <p:cNvSpPr/>
          <p:nvPr/>
        </p:nvSpPr>
        <p:spPr>
          <a:xfrm>
            <a:off x="685800" y="2863537"/>
            <a:ext cx="5219700" cy="2266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Segments for a live game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not exist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few seconds ago — nothing to pre-fill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viewer wants the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new segment within the same second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miss at 300 PoPs at once could become 300 requests to the origin</a:t>
            </a:r>
            <a:endParaRPr lang="en-US" sz="1872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industry does</a:t>
            </a:r>
            <a:endParaRPr lang="en-US" sz="1755" dirty="0"/>
          </a:p>
        </p:txBody>
      </p:sp>
      <p:sp>
        <p:nvSpPr>
          <p:cNvPr id="10" name="Text 8"/>
          <p:cNvSpPr/>
          <p:nvPr/>
        </p:nvSpPr>
        <p:spPr>
          <a:xfrm>
            <a:off x="6286500" y="2863537"/>
            <a:ext cx="5219700" cy="29919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collapsing: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PoP sends one origin fetch per segment, the rest wait for it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Shield tiers: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PoPs ask a regional cache, not the origin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manifest TTLs, long segment TTLs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Multi-CDN failover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capacity booked in advance</a:t>
            </a:r>
            <a:endParaRPr lang="en-US" sz="187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what must never be shared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038396"/>
          </a:xfrm>
          <a:prstGeom prst="roundRect">
            <a:avLst>
              <a:gd name="adj" fmla="val 440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03839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0" name="Text 8"/>
          <p:cNvSpPr/>
          <p:nvPr/>
        </p:nvSpPr>
        <p:spPr>
          <a:xfrm>
            <a:off x="914400" y="2860015"/>
            <a:ext cx="10363200" cy="442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a video segment everywhere; never share a "continue watching" row.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629805"/>
            <a:ext cx="5219700" cy="351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1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incident</a:t>
            </a:r>
            <a:endParaRPr lang="en-US" sz="1710" dirty="0"/>
          </a:p>
        </p:txBody>
      </p:sp>
      <p:sp>
        <p:nvSpPr>
          <p:cNvPr id="12" name="Text 10"/>
          <p:cNvSpPr/>
          <p:nvPr/>
        </p:nvSpPr>
        <p:spPr>
          <a:xfrm>
            <a:off x="685800" y="4068066"/>
            <a:ext cx="5219700" cy="15624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Luis opens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/account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signed in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edge stores it under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+ path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Maya requests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/account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gets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Luis's page</a:t>
            </a:r>
            <a:endParaRPr lang="en-US" sz="1824" dirty="0"/>
          </a:p>
        </p:txBody>
      </p:sp>
      <p:sp>
        <p:nvSpPr>
          <p:cNvPr id="13" name="Text 11"/>
          <p:cNvSpPr/>
          <p:nvPr/>
        </p:nvSpPr>
        <p:spPr>
          <a:xfrm>
            <a:off x="6286500" y="3629805"/>
            <a:ext cx="5219700" cy="351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1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rule</a:t>
            </a:r>
            <a:endParaRPr lang="en-US" sz="1710" dirty="0"/>
          </a:p>
        </p:txBody>
      </p:sp>
      <p:sp>
        <p:nvSpPr>
          <p:cNvPr id="14" name="Text 12"/>
          <p:cNvSpPr/>
          <p:nvPr/>
        </p:nvSpPr>
        <p:spPr>
          <a:xfrm>
            <a:off x="6286500" y="4068066"/>
            <a:ext cx="5219700" cy="1886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cache stores under a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host + path + query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Depends on anything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in the key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 Sharing leaks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→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browser only</a:t>
            </a:r>
            <a:endParaRPr lang="en-US" sz="182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silent write (4 min) → cold call three students (4 min) → debrief (2 min)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215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should each of these be answered — and is it safe to share?</a:t>
            </a:r>
            <a:endParaRPr lang="en-US" sz="3696" dirty="0"/>
          </a:p>
        </p:txBody>
      </p:sp>
      <p:sp>
        <p:nvSpPr>
          <p:cNvPr id="10" name="Text 8"/>
          <p:cNvSpPr/>
          <p:nvPr/>
        </p:nvSpPr>
        <p:spPr>
          <a:xfrm>
            <a:off x="685800" y="3354098"/>
            <a:ext cx="10820400" cy="2612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4-second segment of episode 3 in 1080p, requested by 40,000 viewers tonight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CampusPulse's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/assets/index-C4c61eeb.js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built by Vite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CampusPulse's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/api/status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identical for everyone, changes every few seconds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4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streaming app's "Continue watching" row for the signed-in viewer</a:t>
            </a:r>
            <a:endParaRPr lang="en-US" sz="211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17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Block B does with this</a:t>
            </a:r>
            <a:endParaRPr lang="en-US" sz="4116" dirty="0"/>
          </a:p>
        </p:txBody>
      </p:sp>
      <p:sp>
        <p:nvSpPr>
          <p:cNvPr id="7" name="Text 5"/>
          <p:cNvSpPr/>
          <p:nvPr/>
        </p:nvSpPr>
        <p:spPr>
          <a:xfrm>
            <a:off x="685800" y="1743564"/>
            <a:ext cx="10820400" cy="4228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now know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copies live and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may be shared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B opens the stack: browser, service worker, React data cache, CDN, reverse proxy, Redis, database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layer: what it is good at, a real product that implements it, and how it is invalidated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one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React + Node example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Vite build, Express headers, a Redis cache-aside, and invalidation on write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HW5 asks you to design that stack for your own CampusPulse and prove it works</a:t>
            </a:r>
            <a:endParaRPr lang="en-US" sz="235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Caching without the code tour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58620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what to cache, see what the browser did, and test whether a copy is safe and fresh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812466"/>
            <a:ext cx="108204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cache is a reusable copy. The design question is not “how do I write the cache code?” It is “which copy can safely answer this request, and how will I know it is still useful?”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662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request may meet several copies before the source</a:t>
            </a:r>
            <a:endParaRPr lang="en-US" sz="3864" dirty="0"/>
          </a:p>
        </p:txBody>
      </p:sp>
      <p:sp>
        <p:nvSpPr>
          <p:cNvPr id="7" name="Text 5"/>
          <p:cNvSpPr/>
          <p:nvPr/>
        </p:nvSpPr>
        <p:spPr>
          <a:xfrm>
            <a:off x="685800" y="2285799"/>
            <a:ext cx="10820400" cy="2264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request may stop at the browser, a nearby shared edge, or an application service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copy must be safe for its audience and fresh enough for the feature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browser evidence to tell whether reuse happened and whether it helped</a:t>
            </a:r>
            <a:endParaRPr lang="en-US" sz="2208" dirty="0"/>
          </a:p>
        </p:txBody>
      </p:sp>
      <p:sp>
        <p:nvSpPr>
          <p:cNvPr id="8" name="Shape 6"/>
          <p:cNvSpPr/>
          <p:nvPr/>
        </p:nvSpPr>
        <p:spPr>
          <a:xfrm>
            <a:off x="685800" y="4673145"/>
            <a:ext cx="10820400" cy="1052666"/>
          </a:xfrm>
          <a:prstGeom prst="roundRect">
            <a:avLst>
              <a:gd name="adj" fmla="val 434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673145"/>
            <a:ext cx="76200" cy="105266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87445"/>
            <a:ext cx="103632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18" dirty="0"/>
          </a:p>
        </p:txBody>
      </p:sp>
      <p:sp>
        <p:nvSpPr>
          <p:cNvPr id="11" name="Text 9"/>
          <p:cNvSpPr/>
          <p:nvPr/>
        </p:nvSpPr>
        <p:spPr>
          <a:xfrm>
            <a:off x="914400" y="5123487"/>
            <a:ext cx="10363200" cy="449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Caching trades repeated work for a temporary promise about sameness.</a:t>
            </a:r>
            <a:endParaRPr lang="en-US" sz="207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path a page request can take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77670"/>
            <a:ext cx="10820400" cy="38001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77840"/>
            <a:ext cx="10820400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request stops at the first safe, sufficiently fresh copy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14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the copy by asking who it is for</a:t>
            </a:r>
            <a:endParaRPr lang="en-US" sz="3444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3119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207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Typical choice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question to debate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Movie poster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Everyone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edge copy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quickly must a correction appear?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Signed-in watch list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account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 browser or account-aware service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Could another account ever receive it?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service status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Everyone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Short-lived shared copy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stale is acceptable during an outage?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Profile page shell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Everyone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Shared, versioned files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does a new release replace old files?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Available seats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Everyone, but changing quickly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brief or no shared copy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Could a stale answer cause a bad booking?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15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Browser test 1: did the page reuse its own files?</a:t>
            </a:r>
            <a:endParaRPr lang="en-US" sz="3696" dirty="0"/>
          </a:p>
        </p:txBody>
      </p:sp>
      <p:sp>
        <p:nvSpPr>
          <p:cNvPr id="7" name="Text 5"/>
          <p:cNvSpPr/>
          <p:nvPr/>
        </p:nvSpPr>
        <p:spPr>
          <a:xfrm>
            <a:off x="685800" y="2230148"/>
            <a:ext cx="10820400" cy="2237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browser's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panel and reload a page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Reload again; compare images, styles, and scripts with the first visit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for “memory cache,” “disk cache,” “not modified,” or a much smaller transfer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a resource and inspect its response headers for its freshness policy</a:t>
            </a:r>
            <a:endParaRPr lang="en-US" sz="2112" dirty="0"/>
          </a:p>
        </p:txBody>
      </p:sp>
      <p:sp>
        <p:nvSpPr>
          <p:cNvPr id="8" name="Shape 6"/>
          <p:cNvSpPr/>
          <p:nvPr/>
        </p:nvSpPr>
        <p:spPr>
          <a:xfrm>
            <a:off x="685800" y="4584728"/>
            <a:ext cx="10820400" cy="1367023"/>
          </a:xfrm>
          <a:prstGeom prst="roundRect">
            <a:avLst>
              <a:gd name="adj" fmla="val 334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584728"/>
            <a:ext cx="76200" cy="136702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99028"/>
            <a:ext cx="10363200" cy="284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2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52" dirty="0"/>
          </a:p>
        </p:txBody>
      </p:sp>
      <p:sp>
        <p:nvSpPr>
          <p:cNvPr id="11" name="Text 9"/>
          <p:cNvSpPr/>
          <p:nvPr/>
        </p:nvSpPr>
        <p:spPr>
          <a:xfrm>
            <a:off x="914400" y="5022116"/>
            <a:ext cx="10363200" cy="777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evidence is a changed source of the response or fewer bytes—not just a page that feels fast.</a:t>
            </a:r>
            <a:endParaRPr lang="en-US" sz="198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Browser test 2: compare a first visit with a repeat visit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visit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685800" y="2909171"/>
            <a:ext cx="5219700" cy="2988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page in a fresh private window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Network panel open and reload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 which large images and files cross the network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the response size and time</a:t>
            </a:r>
            <a:endParaRPr lang="en-US" sz="2112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Repeat visit</a:t>
            </a:r>
            <a:endParaRPr lang="en-US" sz="1980" dirty="0"/>
          </a:p>
        </p:txBody>
      </p:sp>
      <p:sp>
        <p:nvSpPr>
          <p:cNvPr id="10" name="Text 8"/>
          <p:cNvSpPr/>
          <p:nvPr/>
        </p:nvSpPr>
        <p:spPr>
          <a:xfrm>
            <a:off x="6286500" y="2909171"/>
            <a:ext cx="5219700" cy="2988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Reload the same page in the same window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the same files and headers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 after clearing only that site's stored data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which copy answered each request</a:t>
            </a:r>
            <a:endParaRPr lang="en-US" sz="2112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4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Browser test 3: look for shared-edge evidence</a:t>
            </a:r>
            <a:endParaRPr lang="en-US" sz="3780" dirty="0"/>
          </a:p>
        </p:txBody>
      </p:sp>
      <p:sp>
        <p:nvSpPr>
          <p:cNvPr id="7" name="Text 5"/>
          <p:cNvSpPr/>
          <p:nvPr/>
        </p:nvSpPr>
        <p:spPr>
          <a:xfrm>
            <a:off x="685800" y="2257974"/>
            <a:ext cx="10820400" cy="312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a large public image, poster, or media segment in the Network panel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response headers for cache age, cache status, and the declared lifetime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several times; compare response time and transfer size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available, compare the same public resource from another network or region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 a missing cache header as “unknown,” not proof that no cache exists</a:t>
            </a:r>
            <a:endParaRPr lang="en-US" sz="2160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caching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cache responses</a:t>
            </a:r>
            <a:endParaRPr lang="en-US" sz="12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87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 that a copy is fresh enough—and belongs to the right person</a:t>
            </a:r>
            <a:endParaRPr lang="en-US" sz="3276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91022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0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students do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a good result means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Freshness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Change a public title or image, then reload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new version appears within the promised window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Personalization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 in as account A, then account B in a separate profile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Neither account sees the other's name, list, or history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Shared-device safety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 out, then revisit the previous account's page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Private data is not left visible to the next person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Offline behavior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Disconnect after opening a page, then revisit it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app clearly distinguishes saved content from current data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Cache reset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Clear that site's stored data, then repeat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team can reproduce a true first visit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product examples: same idea, different copy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51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1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Streaming catalog</a:t>
            </a:r>
            <a:endParaRPr lang="en-US" sz="1710" dirty="0"/>
          </a:p>
        </p:txBody>
      </p:sp>
      <p:sp>
        <p:nvSpPr>
          <p:cNvPr id="8" name="Text 6"/>
          <p:cNvSpPr/>
          <p:nvPr/>
        </p:nvSpPr>
        <p:spPr>
          <a:xfrm>
            <a:off x="685800" y="2854410"/>
            <a:ext cx="5219700" cy="2917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Posters, artwork, and public title details are reused by many viewers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Nearby shared copies reduce delay and origin traffic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corrected rating or artwork must eventually replace the old copy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account's watch progress stays personal</a:t>
            </a:r>
            <a:endParaRPr lang="en-US" sz="1824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51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1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Collaboration app</a:t>
            </a:r>
            <a:endParaRPr lang="en-US" sz="1710" dirty="0"/>
          </a:p>
        </p:txBody>
      </p:sp>
      <p:sp>
        <p:nvSpPr>
          <p:cNvPr id="10" name="Text 8"/>
          <p:cNvSpPr/>
          <p:nvPr/>
        </p:nvSpPr>
        <p:spPr>
          <a:xfrm>
            <a:off x="6286500" y="2854410"/>
            <a:ext cx="5219700" cy="2917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files, help pages, and public profile images are reusable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membership and a participant's private messages are not public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audio and video must arrive now, not from an old saved copy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brief interruption is different from stale playback</a:t>
            </a:r>
            <a:endParaRPr lang="en-US" sz="182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766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Diagnose a slow page without reading its code</a:t>
            </a:r>
            <a:endParaRPr lang="en-US" sz="3192" dirty="0"/>
          </a:p>
        </p:txBody>
      </p:sp>
      <p:sp>
        <p:nvSpPr>
          <p:cNvPr id="7" name="Text 5"/>
          <p:cNvSpPr/>
          <p:nvPr/>
        </p:nvSpPr>
        <p:spPr>
          <a:xfrm>
            <a:off x="685800" y="1577953"/>
            <a:ext cx="10820400" cy="2975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transfer, first visit: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investigate image size, resolution, and delivery distance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Repeated download on every visit: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ask whether the file has a reusable lifetime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but outdated result: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shorten the freshness window or improve version replacement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account sees another's data: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remove shared reuse and investigate account boundaries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warm edge still loads slowly: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look beyond caching; the server, page, or connection may be the bottleneck</a:t>
            </a:r>
            <a:endParaRPr lang="en-US" sz="1824" dirty="0"/>
          </a:p>
        </p:txBody>
      </p:sp>
      <p:sp>
        <p:nvSpPr>
          <p:cNvPr id="8" name="Shape 6"/>
          <p:cNvSpPr/>
          <p:nvPr/>
        </p:nvSpPr>
        <p:spPr>
          <a:xfrm>
            <a:off x="685800" y="4654756"/>
            <a:ext cx="10820400" cy="938505"/>
          </a:xfrm>
          <a:prstGeom prst="roundRect">
            <a:avLst>
              <a:gd name="adj" fmla="val 487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654756"/>
            <a:ext cx="76200" cy="93850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69056"/>
            <a:ext cx="10363200" cy="246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4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54" dirty="0"/>
          </a:p>
        </p:txBody>
      </p:sp>
      <p:sp>
        <p:nvSpPr>
          <p:cNvPr id="11" name="Text 9"/>
          <p:cNvSpPr/>
          <p:nvPr/>
        </p:nvSpPr>
        <p:spPr>
          <a:xfrm>
            <a:off x="914400" y="5053282"/>
            <a:ext cx="10363200" cy="3875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1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cache is one part of the path. It cannot make every kind of delay disappear.</a:t>
            </a:r>
            <a:endParaRPr lang="en-US" sz="171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min  ·  Small groups (3 min) → compare answers (2 min) → debrief (1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the cache plan for three features</a:t>
            </a:r>
            <a:endParaRPr lang="en-US" sz="3696" dirty="0"/>
          </a:p>
        </p:txBody>
      </p:sp>
      <p:sp>
        <p:nvSpPr>
          <p:cNvPr id="10" name="Text 8"/>
          <p:cNvSpPr/>
          <p:nvPr/>
        </p:nvSpPr>
        <p:spPr>
          <a:xfrm>
            <a:off x="685800" y="2792236"/>
            <a:ext cx="10820400" cy="2170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New-release posters: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shared by viewers; may be corrected by the studio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continue-watching row: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unique to the signed-in account; changes during viewing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event schedule: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public; organizers may revise it shortly before the event</a:t>
            </a:r>
            <a:endParaRPr lang="en-US" sz="2112" dirty="0"/>
          </a:p>
        </p:txBody>
      </p:sp>
      <p:sp>
        <p:nvSpPr>
          <p:cNvPr id="11" name="Text 9"/>
          <p:cNvSpPr/>
          <p:nvPr/>
        </p:nvSpPr>
        <p:spPr>
          <a:xfrm>
            <a:off x="685800" y="5079760"/>
            <a:ext cx="10820400" cy="821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each, choose </a:t>
            </a:r>
            <a:pPr algn="l" indent="0" marL="0">
              <a:lnSpc>
                <a:spcPct val="102256"/>
              </a:lnSpc>
              <a:buNone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 copy may live</a:t>
            </a:r>
            <a:pPr algn="l" indent="0" marL="0">
              <a:lnSpc>
                <a:spcPct val="102256"/>
              </a:lnSpc>
              <a:buNone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lnSpc>
                <a:spcPct val="102256"/>
              </a:lnSpc>
              <a:buNone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quickly it must update</a:t>
            </a:r>
            <a:pPr algn="l" indent="0" marL="0">
              <a:lnSpc>
                <a:spcPct val="102256"/>
              </a:lnSpc>
              <a:buNone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</a:t>
            </a:r>
            <a:pPr algn="l" indent="0" marL="0">
              <a:lnSpc>
                <a:spcPct val="102256"/>
              </a:lnSpc>
              <a:buNone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browser observation</a:t>
            </a:r>
            <a:pPr algn="l" indent="0" marL="0">
              <a:lnSpc>
                <a:spcPct val="102256"/>
              </a:lnSpc>
              <a:buNone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would help you verify the experience.</a:t>
            </a:r>
            <a:endParaRPr lang="en-US" sz="2112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practical rule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58620"/>
            <a:ext cx="1082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shared, repeatable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content close to viewers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content isolated to the correct account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changing content a freshness promise the product can keep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browser evidence to test reuse, freshness, and privacy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3995090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995090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09390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471340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two products with video—and why their architectures need different answers.</a:t>
            </a:r>
            <a:endParaRPr lang="en-US" sz="2256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kinds of video, two caching architectures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97100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streaming libraries scale—and why live meetings cannot reuse yesterday's media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450946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Netflix, Disney+, Zoom, and Teams all show video. Their delivery architectures solve different problems.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 with the experience, not the vendor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0" name="Text 8"/>
          <p:cNvSpPr/>
          <p:nvPr/>
        </p:nvSpPr>
        <p:spPr>
          <a:xfrm>
            <a:off x="914400" y="2840584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useful cache holds a reusable copy. A live participant's next sentence does not exist yet.</a:t>
            </a:r>
            <a:endParaRPr lang="en-US" sz="1895" dirty="0"/>
          </a:p>
        </p:txBody>
      </p:sp>
      <p:sp>
        <p:nvSpPr>
          <p:cNvPr id="11" name="Text 9"/>
          <p:cNvSpPr/>
          <p:nvPr/>
        </p:nvSpPr>
        <p:spPr>
          <a:xfrm>
            <a:off x="685800" y="3905162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movie or episode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685800" y="4352550"/>
            <a:ext cx="5219700" cy="12682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before playback begins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media serves many viewers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can favor reuse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6286500" y="3905162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live meeting</a:t>
            </a:r>
            <a:endParaRPr lang="en-US" sz="1755" dirty="0"/>
          </a:p>
        </p:txBody>
      </p:sp>
      <p:sp>
        <p:nvSpPr>
          <p:cNvPr id="14" name="Text 12"/>
          <p:cNvSpPr/>
          <p:nvPr/>
        </p:nvSpPr>
        <p:spPr>
          <a:xfrm>
            <a:off x="6286500" y="4352550"/>
            <a:ext cx="5219700" cy="1601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Participants create media as they speak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voice and camera stream is unique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must minimize delay</a:t>
            </a:r>
            <a:endParaRPr lang="en-US" sz="1872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streaming library has a control path and a media path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6206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0368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Video-on-demand separates the catalog and account control path from the large shared media path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Editable streaming architecture diagram</a:t>
            </a:r>
            <a:endParaRPr lang="en-US" sz="12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14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belongs in the shared streaming cache?</a:t>
            </a:r>
            <a:endParaRPr lang="en-US" sz="3444" dirty="0"/>
          </a:p>
        </p:txBody>
      </p:sp>
      <p:sp>
        <p:nvSpPr>
          <p:cNvPr id="7" name="Text 5"/>
          <p:cNvSpPr/>
          <p:nvPr/>
        </p:nvSpPr>
        <p:spPr>
          <a:xfrm>
            <a:off x="685800" y="1623119"/>
            <a:ext cx="10820400" cy="2790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candidates: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title artwork, public catalog details, and prepared video segments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Usually short-lived: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playback plan or title availability that may change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Account-specific: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watch history, recommendations, and continue-watching position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cache policy: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treating every response as public because most titles are public</a:t>
            </a:r>
            <a:endParaRPr lang="en-US" sz="1968" dirty="0"/>
          </a:p>
        </p:txBody>
      </p:sp>
      <p:sp>
        <p:nvSpPr>
          <p:cNvPr id="8" name="Shape 6"/>
          <p:cNvSpPr/>
          <p:nvPr/>
        </p:nvSpPr>
        <p:spPr>
          <a:xfrm>
            <a:off x="685800" y="4523215"/>
            <a:ext cx="10820400" cy="981315"/>
          </a:xfrm>
          <a:prstGeom prst="roundRect">
            <a:avLst>
              <a:gd name="adj" fmla="val 465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523215"/>
            <a:ext cx="76200" cy="98131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37515"/>
            <a:ext cx="10363200" cy="265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3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53" dirty="0"/>
          </a:p>
        </p:txBody>
      </p:sp>
      <p:sp>
        <p:nvSpPr>
          <p:cNvPr id="11" name="Text 9"/>
          <p:cNvSpPr/>
          <p:nvPr/>
        </p:nvSpPr>
        <p:spPr>
          <a:xfrm>
            <a:off x="914400" y="4941172"/>
            <a:ext cx="10363200" cy="410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media may be shared; the viewer's identity and viewing history are not.</a:t>
            </a:r>
            <a:endParaRPr lang="en-US" sz="1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42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Netflix and Disney+: a shared pattern, different delivery choices</a:t>
            </a:r>
            <a:endParaRPr lang="en-US" sz="4116" dirty="0"/>
          </a:p>
        </p:txBody>
      </p:sp>
      <p:sp>
        <p:nvSpPr>
          <p:cNvPr id="7" name="Text 5"/>
          <p:cNvSpPr/>
          <p:nvPr/>
        </p:nvSpPr>
        <p:spPr>
          <a:xfrm>
            <a:off x="685800" y="2390610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Netflix</a:t>
            </a:r>
            <a:endParaRPr lang="en-US" sz="1665" dirty="0"/>
          </a:p>
        </p:txBody>
      </p:sp>
      <p:sp>
        <p:nvSpPr>
          <p:cNvPr id="8" name="Text 6"/>
          <p:cNvSpPr/>
          <p:nvPr/>
        </p:nvSpPr>
        <p:spPr>
          <a:xfrm>
            <a:off x="685800" y="2819744"/>
            <a:ext cx="5219700" cy="2843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Publishes the Open Connect program for placing content close to viewers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pre-position popular titles ahead of expected demand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local copy absorbs repeated requests for the same prepared media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services still handle identity, discovery, and playback decisions</a:t>
            </a:r>
            <a:endParaRPr lang="en-US" sz="1776" dirty="0"/>
          </a:p>
        </p:txBody>
      </p:sp>
      <p:sp>
        <p:nvSpPr>
          <p:cNvPr id="9" name="Text 7"/>
          <p:cNvSpPr/>
          <p:nvPr/>
        </p:nvSpPr>
        <p:spPr>
          <a:xfrm>
            <a:off x="6286500" y="2390610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Disney+</a:t>
            </a:r>
            <a:endParaRPr lang="en-US" sz="1665" dirty="0"/>
          </a:p>
        </p:txBody>
      </p:sp>
      <p:sp>
        <p:nvSpPr>
          <p:cNvPr id="10" name="Text 8"/>
          <p:cNvSpPr/>
          <p:nvPr/>
        </p:nvSpPr>
        <p:spPr>
          <a:xfrm>
            <a:off x="6286500" y="2819744"/>
            <a:ext cx="5219700" cy="2843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large-scale streaming delivery and multiple content delivery partners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steer delivery among providers and regions as conditions change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media copies reduce repeated long-distance transfers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and account services remain distinct from media delivery</a:t>
            </a:r>
            <a:endParaRPr lang="en-US" sz="1776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Connect content delivery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Media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Disney Streaming on multi-CDN load balancing</a:t>
            </a:r>
            <a:endParaRPr lang="en-US" sz="12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meeting has a different path for every live conversation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6206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0368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meetings use shared application assets, but live participant media travels through low-latency relays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Editable meeting architecture diagram</a:t>
            </a:r>
            <a:endParaRPr lang="en-US" sz="12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25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Zoom and Teams cannot treat a meeting like a movie</a:t>
            </a:r>
            <a:endParaRPr lang="en-US" sz="2856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17730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378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Design question</a:t>
                      </a:r>
                      <a:endParaRPr lang="en-US" sz="122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Netflix or Disney+ library</a:t>
                      </a:r>
                      <a:endParaRPr lang="en-US" sz="122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Zoom or Microsoft Teams meeting</a:t>
                      </a:r>
                      <a:endParaRPr lang="en-US" sz="122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1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 the media available before playback?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Usually yes; prepared before a viewer presses play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No; participants create it as they speak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1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 many people reuse the same media bytes?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Often yes; the title is shared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No; each participant's stream is unique to the meeting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1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is the delivery priority?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Smooth playback, startup, and picture quality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delay, stable conversation, and clear speech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395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can a shared edge cache well?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Artwork and prepared media segments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files and public resources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1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carries live media?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nearby copy can serve the prepared segment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live relay forwards current participant streams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1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happens when a copy is stale?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older frame or title version may appear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Delayed speech makes conversation confusing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middle ground: a live event broadcast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0" name="Text 8"/>
          <p:cNvSpPr/>
          <p:nvPr/>
        </p:nvSpPr>
        <p:spPr>
          <a:xfrm>
            <a:off x="914400" y="2840584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broadcast uses shared distribution, but its freshness window is measured in moments—not hours.</a:t>
            </a:r>
            <a:endParaRPr lang="en-US" sz="1895" dirty="0"/>
          </a:p>
        </p:txBody>
      </p:sp>
      <p:sp>
        <p:nvSpPr>
          <p:cNvPr id="11" name="Text 9"/>
          <p:cNvSpPr/>
          <p:nvPr/>
        </p:nvSpPr>
        <p:spPr>
          <a:xfrm>
            <a:off x="685800" y="3905162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Like a streaming library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685800" y="4352550"/>
            <a:ext cx="5219700" cy="1601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event feed reaches many viewers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edges distribute shared media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Viewers can reuse recent segments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6286500" y="3905162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Unlike a movie library</a:t>
            </a:r>
            <a:endParaRPr lang="en-US" sz="1755" dirty="0"/>
          </a:p>
        </p:txBody>
      </p:sp>
      <p:sp>
        <p:nvSpPr>
          <p:cNvPr id="14" name="Text 12"/>
          <p:cNvSpPr/>
          <p:nvPr/>
        </p:nvSpPr>
        <p:spPr>
          <a:xfrm>
            <a:off x="6286500" y="4352550"/>
            <a:ext cx="5219700" cy="12682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media is created continuously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newest segment must arrive quickly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Long-lived copies show the past</a:t>
            </a:r>
            <a:endParaRPr lang="en-US" sz="1872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89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Place caches where they help without changing the experience</a:t>
            </a:r>
            <a:endParaRPr lang="en-US" sz="3612" dirty="0"/>
          </a:p>
        </p:txBody>
      </p:sp>
      <p:sp>
        <p:nvSpPr>
          <p:cNvPr id="7" name="Text 5"/>
          <p:cNvSpPr/>
          <p:nvPr/>
        </p:nvSpPr>
        <p:spPr>
          <a:xfrm>
            <a:off x="685800" y="2202323"/>
            <a:ext cx="10820400" cy="33549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edge: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prepared media, posters, and public application resources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services: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personal lists and viewing history, partitioned by account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control: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membership and room details, kept current for participants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media relays: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forward live streams; do not replay an old shared copy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Recording archive: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once a meeting ends, its recording becomes a stored asset with a different freshness policy</a:t>
            </a:r>
            <a:endParaRPr lang="en-US" sz="206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Individual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min  ·  Teams (3 min) → report back (2 min) → debrief (1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64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Sketch the right delivery for a championship final</a:t>
            </a:r>
            <a:endParaRPr lang="en-US" sz="3528" dirty="0"/>
          </a:p>
        </p:txBody>
      </p:sp>
      <p:sp>
        <p:nvSpPr>
          <p:cNvPr id="10" name="Text 8"/>
          <p:cNvSpPr/>
          <p:nvPr/>
        </p:nvSpPr>
        <p:spPr>
          <a:xfrm>
            <a:off x="685800" y="3298448"/>
            <a:ext cx="10820400" cy="7878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service offers a recorded replay, a live broadcast, and a private watch party with voice chat.</a:t>
            </a:r>
            <a:endParaRPr lang="en-US" sz="2016" dirty="0"/>
          </a:p>
        </p:txBody>
      </p:sp>
      <p:sp>
        <p:nvSpPr>
          <p:cNvPr id="11" name="Text 9"/>
          <p:cNvSpPr/>
          <p:nvPr/>
        </p:nvSpPr>
        <p:spPr>
          <a:xfrm>
            <a:off x="685800" y="4198309"/>
            <a:ext cx="10820400" cy="17812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1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pieces can use a shared edge copy?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2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requests must be personal or permission-checked?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3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traffic must be routed live rather than served from a saved copy?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4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changes after the event ends?</a:t>
            </a:r>
            <a:endParaRPr lang="en-US" sz="2016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high-level architecture sketch for your own app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97100"/>
            <a:ext cx="10820400" cy="2956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a feature that serves the same content to many people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 the viewer, shared edge, application services, and source data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one personal-data path that must not become a shared copy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one freshness promise and what product risk it protects against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Closing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43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89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product can contain several delivery architectures</a:t>
            </a:r>
            <a:endParaRPr lang="en-US" sz="3612" dirty="0"/>
          </a:p>
        </p:txBody>
      </p:sp>
      <p:sp>
        <p:nvSpPr>
          <p:cNvPr id="7" name="Text 5"/>
          <p:cNvSpPr/>
          <p:nvPr/>
        </p:nvSpPr>
        <p:spPr>
          <a:xfrm>
            <a:off x="685800" y="2202323"/>
            <a:ext cx="10820400" cy="2188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 playback: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cache prepared media close to many viewers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broadcast: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distribute shared media with a short freshness window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conversation: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route unique, current streams through low-delay relays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experience: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keep personal data separate from all shared media copies</a:t>
            </a:r>
            <a:endParaRPr lang="en-US" sz="2064" dirty="0"/>
          </a:p>
        </p:txBody>
      </p:sp>
      <p:sp>
        <p:nvSpPr>
          <p:cNvPr id="8" name="Shape 6"/>
          <p:cNvSpPr/>
          <p:nvPr/>
        </p:nvSpPr>
        <p:spPr>
          <a:xfrm>
            <a:off x="685800" y="4505468"/>
            <a:ext cx="10820400" cy="1344960"/>
          </a:xfrm>
          <a:prstGeom prst="roundRect">
            <a:avLst>
              <a:gd name="adj" fmla="val 339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505468"/>
            <a:ext cx="76200" cy="134496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19768"/>
            <a:ext cx="10363200" cy="278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19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19" dirty="0"/>
          </a:p>
        </p:txBody>
      </p:sp>
      <p:sp>
        <p:nvSpPr>
          <p:cNvPr id="11" name="Text 9"/>
          <p:cNvSpPr/>
          <p:nvPr/>
        </p:nvSpPr>
        <p:spPr>
          <a:xfrm>
            <a:off x="914400" y="4936379"/>
            <a:ext cx="10363200" cy="7616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what can be reused, by whom, and for how long. Those answers shape the architecture.</a:t>
            </a:r>
            <a:endParaRPr lang="en-US" sz="1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Delivery, Caching, and What the User Actually Experiences — Week 5 Full session</dc:title>
  <dc:subject>Review, preparation, logistics, teaching, individual practice, and the end-of-class brief</dc:subject>
  <dc:creator>Course staff</dc:creator>
  <cp:lastModifiedBy>Course staff</cp:lastModifiedBy>
  <cp:revision>1</cp:revision>
  <dcterms:created xsi:type="dcterms:W3CDTF">2026-10-11T16:00:55Z</dcterms:created>
  <dcterms:modified xsi:type="dcterms:W3CDTF">2026-10-11T16:00:55Z</dcterms:modified>
</cp:coreProperties>
</file>