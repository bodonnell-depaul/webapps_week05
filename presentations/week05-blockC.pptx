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[Editable streaming architecture diagram](../diagrams/video-on-demand.drawio)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Netflix — [Open Connect content delivery](https://openconnect.netflix.com/)
Streaming Media — [Disney Streaming on multi-CDN load balancing](https://www.streamingmedia.com/Articles/ReadArticle.aspx?ArticleID=145721)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[Editable meeting architecture diagram](../diagrams/real-time-meeting.drawio)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diagrams/video-on-demand.drawio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connect.netflix.com/" TargetMode="External"/><Relationship Id="rId2" Type="http://schemas.openxmlformats.org/officeDocument/2006/relationships/hyperlink" Target="https://www.streamingmedia.com/Articles/ReadArticle.aspx?ArticleID=14572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diagrams/real-time-meeting.drawio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24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kinds of video, two caching architectures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77107"/>
            <a:ext cx="9525000" cy="89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172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streaming libraries scale—and why live meetings cannot reuse yesterday's media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 · Block 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with the experience, not the vendor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useful cache holds a reusable copy. A live participant's next sentence does not exist yet.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movie or episode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52550"/>
            <a:ext cx="5219700" cy="1268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before playback begins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media serves many viewers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can favor reuse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live meeting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52550"/>
            <a:ext cx="5219700" cy="1601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 create media as they speak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voice and camera stream is unique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must minimize delay</a:t>
            </a:r>
            <a:endParaRPr lang="en-US" sz="18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streaming library has a control path and a media path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Video-on-demand separates the catalog and account control path from the large shared media path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Editable streaming architecture diagram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belongs in the shared streaming cache?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623119"/>
            <a:ext cx="10820400" cy="2790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candidates: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title artwork, public catalog details, and prepared video segments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Usually short-lived: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playback plan or title availability that may change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Account-specific: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watch history, recommendations, and continue-watching position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cache policy:</a:t>
            </a:r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treating every response as public because most titles are public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4523215"/>
            <a:ext cx="10820400" cy="981315"/>
          </a:xfrm>
          <a:prstGeom prst="roundRect">
            <a:avLst>
              <a:gd name="adj" fmla="val 465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23215"/>
            <a:ext cx="76200" cy="98131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37515"/>
            <a:ext cx="10363200" cy="26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3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53" dirty="0"/>
          </a:p>
        </p:txBody>
      </p:sp>
      <p:sp>
        <p:nvSpPr>
          <p:cNvPr id="11" name="Text 9"/>
          <p:cNvSpPr/>
          <p:nvPr/>
        </p:nvSpPr>
        <p:spPr>
          <a:xfrm>
            <a:off x="914400" y="4941172"/>
            <a:ext cx="10363200" cy="410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media may be shared; the viewer's identity and viewing history are not.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4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Netflix and Disney+: a shared pattern, different delivery choices</a:t>
            </a:r>
            <a:endParaRPr lang="en-US" sz="4116" dirty="0"/>
          </a:p>
        </p:txBody>
      </p:sp>
      <p:sp>
        <p:nvSpPr>
          <p:cNvPr id="7" name="Text 5"/>
          <p:cNvSpPr/>
          <p:nvPr/>
        </p:nvSpPr>
        <p:spPr>
          <a:xfrm>
            <a:off x="685800" y="239061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Netflix</a:t>
            </a:r>
            <a:endParaRPr lang="en-US" sz="1665" dirty="0"/>
          </a:p>
        </p:txBody>
      </p:sp>
      <p:sp>
        <p:nvSpPr>
          <p:cNvPr id="8" name="Text 6"/>
          <p:cNvSpPr/>
          <p:nvPr/>
        </p:nvSpPr>
        <p:spPr>
          <a:xfrm>
            <a:off x="685800" y="2819744"/>
            <a:ext cx="5219700" cy="284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Publishes the Open Connect program for placing content close to viewers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pre-position popular titles ahead of expected demand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 copy absorbs repeated requests for the same prepared media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services still handle identity, discovery, and playback decisions</a:t>
            </a:r>
            <a:endParaRPr lang="en-US" sz="1776" dirty="0"/>
          </a:p>
        </p:txBody>
      </p:sp>
      <p:sp>
        <p:nvSpPr>
          <p:cNvPr id="9" name="Text 7"/>
          <p:cNvSpPr/>
          <p:nvPr/>
        </p:nvSpPr>
        <p:spPr>
          <a:xfrm>
            <a:off x="6286500" y="239061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Disney+</a:t>
            </a:r>
            <a:endParaRPr lang="en-US" sz="1665" dirty="0"/>
          </a:p>
        </p:txBody>
      </p:sp>
      <p:sp>
        <p:nvSpPr>
          <p:cNvPr id="10" name="Text 8"/>
          <p:cNvSpPr/>
          <p:nvPr/>
        </p:nvSpPr>
        <p:spPr>
          <a:xfrm>
            <a:off x="6286500" y="2819744"/>
            <a:ext cx="5219700" cy="2843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large-scale streaming delivery and multiple content delivery partners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steer delivery among providers and regions as conditions change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media copies reduce repeated long-distance transfers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and account services remain distinct from media delivery</a:t>
            </a:r>
            <a:endParaRPr lang="en-US" sz="177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Connect content delivery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Media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Disney Streaming on multi-CDN load balancing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meeting has a different path for every live conversation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6206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0368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meetings use shared application assets, but live participant media travels through low-latency relays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Editable meeting architecture diagram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Zoom and Teams cannot treat a meeting like a movie</a:t>
            </a:r>
            <a:endParaRPr lang="en-US" sz="2856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17730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378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 question</a:t>
                      </a:r>
                      <a:endParaRPr lang="en-US" sz="122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Netflix or Disney+ library</a:t>
                      </a:r>
                      <a:endParaRPr lang="en-US" sz="122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Zoom or Microsoft Teams meeting</a:t>
                      </a:r>
                      <a:endParaRPr lang="en-US" sz="122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 the media available before playback?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Usually yes; prepared before a viewer presses play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No; participants create it as they speak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many people reuse the same media bytes?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Often yes; the title is shared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No; each participant's stream is unique to the meeting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is the delivery priority?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Smooth playback, startup, and picture quality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delay, stable conversation, and clear speech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395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can a shared edge cache well?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Artwork and prepared media segments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files and public resources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carries live media?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nearby copy can serve the prepared segment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live relay forwards current participant streams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1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happens when a copy is stale?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older frame or title version may appear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Delayed speech makes conversation confusing</a:t>
                      </a:r>
                      <a:endParaRPr lang="en-US" sz="132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middle ground: a live event broadcast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broadcast uses shared distribution, but its freshness window is measured in moments—not hours.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Like a streaming library</a:t>
            </a:r>
            <a:endParaRPr lang="en-US" sz="1755" dirty="0"/>
          </a:p>
        </p:txBody>
      </p:sp>
      <p:sp>
        <p:nvSpPr>
          <p:cNvPr id="12" name="Text 10"/>
          <p:cNvSpPr/>
          <p:nvPr/>
        </p:nvSpPr>
        <p:spPr>
          <a:xfrm>
            <a:off x="685800" y="4352550"/>
            <a:ext cx="5219700" cy="1601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event feed reaches many viewers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edges distribute shared media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Viewers can reuse recent segments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582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5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Unlike a movie library</a:t>
            </a:r>
            <a:endParaRPr lang="en-US" sz="1755" dirty="0"/>
          </a:p>
        </p:txBody>
      </p:sp>
      <p:sp>
        <p:nvSpPr>
          <p:cNvPr id="14" name="Text 12"/>
          <p:cNvSpPr/>
          <p:nvPr/>
        </p:nvSpPr>
        <p:spPr>
          <a:xfrm>
            <a:off x="6286500" y="4352550"/>
            <a:ext cx="5219700" cy="12682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media is created continuously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newest segment must arrive quickly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Long-lived copies show the past</a:t>
            </a:r>
            <a:endParaRPr lang="en-US" sz="187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Video architectures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Place caches where they help without changing the experience</a:t>
            </a:r>
            <a:endParaRPr lang="en-US" sz="3612" dirty="0"/>
          </a:p>
        </p:txBody>
      </p:sp>
      <p:sp>
        <p:nvSpPr>
          <p:cNvPr id="7" name="Text 5"/>
          <p:cNvSpPr/>
          <p:nvPr/>
        </p:nvSpPr>
        <p:spPr>
          <a:xfrm>
            <a:off x="685800" y="2202323"/>
            <a:ext cx="10820400" cy="3354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edge: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prepared media, posters, and public application resources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services: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personal lists and viewing history, partitioned by account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control: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membership and room details, kept current for participants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media relays: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forward live streams; do not replay an old shared copy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 archive: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once a meeting ends, its recording becomes a stored asset with a different freshness policy</a:t>
            </a:r>
            <a:endParaRPr lang="en-US" sz="206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min  ·  Teams (3 min) → report back (2 min) → debrief (1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Sketch the right delivery for a championship final</a:t>
            </a:r>
            <a:endParaRPr lang="en-US" sz="3528" dirty="0"/>
          </a:p>
        </p:txBody>
      </p:sp>
      <p:sp>
        <p:nvSpPr>
          <p:cNvPr id="10" name="Text 8"/>
          <p:cNvSpPr/>
          <p:nvPr/>
        </p:nvSpPr>
        <p:spPr>
          <a:xfrm>
            <a:off x="685800" y="3298448"/>
            <a:ext cx="10820400" cy="7878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service offers a recorded replay, a live broadcast, and a private watch party with voice chat.</a:t>
            </a:r>
            <a:endParaRPr lang="en-US" sz="2016" dirty="0"/>
          </a:p>
        </p:txBody>
      </p:sp>
      <p:sp>
        <p:nvSpPr>
          <p:cNvPr id="11" name="Text 9"/>
          <p:cNvSpPr/>
          <p:nvPr/>
        </p:nvSpPr>
        <p:spPr>
          <a:xfrm>
            <a:off x="685800" y="4198309"/>
            <a:ext cx="10820400" cy="17812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1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pieces can use a shared edge copy?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2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requests must be personal or permission-checked?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3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traffic must be routed live rather than served from a saved copy?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4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after the event ends?</a:t>
            </a:r>
            <a:endParaRPr lang="en-US" sz="201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high-level architecture sketch for your own app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295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feature that serves the same content to many people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 the viewer, shared edge, application services, and source data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one personal-data path that must not become a shared copy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one freshness promise and what product risk it protects against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product can contain several delivery architectures</a:t>
            </a:r>
            <a:endParaRPr lang="en-US" sz="3612" dirty="0"/>
          </a:p>
        </p:txBody>
      </p:sp>
      <p:sp>
        <p:nvSpPr>
          <p:cNvPr id="7" name="Text 5"/>
          <p:cNvSpPr/>
          <p:nvPr/>
        </p:nvSpPr>
        <p:spPr>
          <a:xfrm>
            <a:off x="685800" y="2202323"/>
            <a:ext cx="10820400" cy="2188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playback: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prepared media close to many viewers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broadcast: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distribute shared media with a short freshness window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conversation: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route unique, current streams through low-delay relays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experience:</a:t>
            </a:r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keep personal data separate from all shared media copies</a:t>
            </a:r>
            <a:endParaRPr lang="en-US" sz="2064" dirty="0"/>
          </a:p>
        </p:txBody>
      </p:sp>
      <p:sp>
        <p:nvSpPr>
          <p:cNvPr id="8" name="Shape 6"/>
          <p:cNvSpPr/>
          <p:nvPr/>
        </p:nvSpPr>
        <p:spPr>
          <a:xfrm>
            <a:off x="685800" y="4505468"/>
            <a:ext cx="10820400" cy="1344960"/>
          </a:xfrm>
          <a:prstGeom prst="roundRect">
            <a:avLst>
              <a:gd name="adj" fmla="val 33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05468"/>
            <a:ext cx="76200" cy="134496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19768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1" name="Text 9"/>
          <p:cNvSpPr/>
          <p:nvPr/>
        </p:nvSpPr>
        <p:spPr>
          <a:xfrm>
            <a:off x="914400" y="4936379"/>
            <a:ext cx="10363200" cy="761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what can be reused, by whom, and for how long. Those answers shape the architecture.</a:t>
            </a:r>
            <a:endParaRPr lang="en-US" sz="1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kinds of video, two caching architectures — Week 5 Block C</dc:title>
  <dc:subject>How streaming libraries scale—and why live meetings cannot reuse yesterday's media</dc:subject>
  <dc:creator>Course staff</dc:creator>
  <cp:lastModifiedBy>Course staff</cp:lastModifiedBy>
  <cp:revision>1</cp:revision>
  <dcterms:created xsi:type="dcterms:W3CDTF">2026-10-11T16:00:54Z</dcterms:created>
  <dcterms:modified xsi:type="dcterms:W3CDTF">2026-10-11T16:00:54Z</dcterms:modified>
</cp:coreProperties>
</file>