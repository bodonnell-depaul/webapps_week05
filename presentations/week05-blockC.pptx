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web.dev — [Core Web Vitals](https://web.dev/articles/vitals) · [INP](https://web.dev/articles/inp) · Google — [INP becomes a Core Web Vital](https://web.dev/blog/inp-cwv-launch)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Chrome — [CrUX methodology: eligibility](https://developer.chrome.com/docs/crux/methodology#eligibility)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Set-Location .\weeks\week05\samples ; node origin.mjs  # Terminal A
$o = 'http://127.0.0.1:8080'                          # Terminal B
curl.exe -sS --noproxy '*' -o NUL -w '%{http_code} ' "$o/slow"
curl.exe -sS --noproxy '*' -o NUL -w "%{http_code}`n" "$o/fast"
# Expect: 200 200
Start-Process "$o/slow"
# Then F12 &gt; Lighthouse &gt; Navigation + Mobile &gt; Analyze.
# Repeat on /fast. Cleanup: Ctrl+C Terminal A when done.
SOURCES:
Course — [`/slow` and `/fast` handlers](../samples/origin.mjs)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cd weeks/week05/samples &amp;&amp; node origin.mjs   # Terminal A
o='http://127.0.0.1:8080'                    # Terminal B
curl -sS --noproxy '*' -o /dev/null -w '%{http_code} ' "$o/slow"
curl -sS --noproxy '*' -o /dev/null -w '%{http_code}\n' "$o/fast"
# Expect: 200 200
open "$o/slow"
# Then Cmd+Opt+I &gt; Lighthouse &gt; Navigation + Mobile &gt; Analyze.
# Repeat on /fast. Cleanup: Ctrl-C Terminal A when done.
SOURCES:
Course — [`/slow` and `/fast` handlers](../samples/origin.mjs)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Deque — [axe-core rule descriptions](https://github.com/dequelabs/axe-core/blob/develop/doc/rule-descriptions.md)
W3C WAI — [How to Meet WCAG 2.2](https://www.w3.org/WAI/WCAG22/quickref/)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Course — [the planted defects](../samples/origin.mjs) · [lab §5](../lab.md)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$a = 'http://127.0.0.1:8080/a11y'
$chrome = Join-Path $env:ProgramFiles 'Google\Chrome\Application\chrome.exe'
curl.exe -sS --noproxy '*' -o NUL -w "a11y=%{http_code}`n" $a
# First npx use needs internet; adjust the browser path if necessary.
npx --yes @axe-core/cli --version
npx --yes @axe-core/cli $a --chrome-path $chrome
Start-Process -FilePath $chrome -ArgumentList $a
SOURCES:
Deque — [axe-core CLI](https://github.com/dequelabs/axe-core-npm/tree/develop/packages/cli)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a='http://127.0.0.1:8080/a11y'
chrome_dir='/Applications/Google Chrome.app/Contents/MacOS'
chrome="$chrome_dir/Google Chrome"
curl -sS --noproxy '*' -o /dev/null -w 'a11y=%{http_code}\n' "$a"
# First npx use needs internet; adjust the browser path if necessary.
npx --yes @axe-core/cli --version
npx --yes @axe-core/cli "$a" --chrome-path "$chrome"
open -a "Google Chrome" "$a"
SOURCES:
Deque — [axe-core CLI](https://github.com/dequelabs/axe-core-npm/tree/develop/packages/cli)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W3C WAI — [Keyboard accessibility](https://www.w3.org/WAI/perspective-videos/keyboard/)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Get-Content .\weeks\week05\samples\k6-baseline-summary.txt
Get-Content .\weeks\week05\samples\campuspulse-load-profile.js
# Cleanup: Ctrl+C the origin in Terminal A, and close the tabs
# on /a11y, /slow and /fast. That is the whole cleanup.
# If 8080 looks busy, LOOK - never end what you did not start:
Get-NetTCPConnection -LocalPort 8080 -State Listen -EA Ignore |
  ForEach-Object { Get-Process -Id $_.OwningProcess }
# Busy port? Use the saved captures; leave other processes alone.
SOURCES:
Course — [captured k6 baseline](../samples/k6-baseline-summary.txt) · [load profile](../samples/campuspulse-load-profile.js)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PLAIN-TEXT COMMANDS:
Copy from here or the Markdown/HTML source; colored PowerPoint code uses nonbreaking spaces for layout.
less weeks/week05/samples/k6-baseline-summary.txt      # q quits
less weeks/week05/samples/campuspulse-load-profile.js
# Cleanup: Ctrl-C the origin in Terminal A, and close the tabs
# on /a11y, /slow and /fast. That is the whole cleanup.
# If 8080 looks busy, LOOK - never end what you did not start:
lsof -nP -iTCP:8080 -sTCP:LISTEN
# Busy port? Use the saved captures; leave other processes alone.
SOURCES:
Course — [captured k6 baseline](../samples/k6-baseline-summary.txt) · [load profile](../samples/campuspulse-load-profile.js)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Google SRE — [Service Level Objectives](https://sre.google/sre-book/service-level-objectives/) · [Alerting on SLOs](https://sre.google/workbook/alerting-on-slos/)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Google SRE — [Service Level Objectives](https://sre.google/sre-book/service-level-objectives/)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Course — [Week 5 lab: full commands, expected output, and troubleshooting](../lab.md)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eb.dev/articles/vitals" TargetMode="External"/><Relationship Id="rId2" Type="http://schemas.openxmlformats.org/officeDocument/2006/relationships/hyperlink" Target="https://web.dev/articles/inp" TargetMode="External"/><Relationship Id="rId3" Type="http://schemas.openxmlformats.org/officeDocument/2006/relationships/hyperlink" Target="https://web.dev/blog/inp-cwv-launch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chrome.com/docs/crux/methodology#eligibil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/blob/develop/doc/rule-descriptions.md" TargetMode="External"/><Relationship Id="rId2" Type="http://schemas.openxmlformats.org/officeDocument/2006/relationships/hyperlink" Target="https://www.w3.org/WAI/WCAG22/quickref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hyperlink" Target="../lab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-npm/tree/develop/packages/cl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-npm/tree/develop/packages/cl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w3.org/WAI/perspective-videos/keyboard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../samples/k6-baseline-summary.txt" TargetMode="External"/><Relationship Id="rId2" Type="http://schemas.openxmlformats.org/officeDocument/2006/relationships/hyperlink" Target="../samples/campuspulse-load-profile.j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../samples/k6-baseline-summary.txt" TargetMode="External"/><Relationship Id="rId2" Type="http://schemas.openxmlformats.org/officeDocument/2006/relationships/hyperlink" Target="../samples/campuspulse-load-profile.j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sre.google/sre-book/service-level-objectives/" TargetMode="External"/><Relationship Id="rId2" Type="http://schemas.openxmlformats.org/officeDocument/2006/relationships/hyperlink" Target="https://sre.google/workbook/alerting-on-slo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sre.google/sre-book/service-level-objective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../lab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../homework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../../../midterm/blueprint.md" TargetMode="External"/><Relationship Id="rId2" Type="http://schemas.openxmlformats.org/officeDocument/2006/relationships/hyperlink" Target="../../../midterm/practice-case.md" TargetMode="External"/><Relationship Id="rId3" Type="http://schemas.openxmlformats.org/officeDocument/2006/relationships/hyperlink" Target="../../week06/prep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67640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038350"/>
            <a:ext cx="10287000" cy="15052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465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Measuring the human experience — and knowing when it breaks</a:t>
            </a:r>
            <a:endParaRPr lang="en-US" sz="4650" dirty="0"/>
          </a:p>
        </p:txBody>
      </p:sp>
      <p:sp>
        <p:nvSpPr>
          <p:cNvPr id="8" name="Text 6"/>
          <p:cNvSpPr/>
          <p:nvPr/>
        </p:nvSpPr>
        <p:spPr>
          <a:xfrm>
            <a:off x="685800" y="3657867"/>
            <a:ext cx="9525000" cy="12189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3985"/>
              </a:lnSpc>
              <a:buNone/>
            </a:pPr>
            <a:r>
              <a:rPr lang="en-US" sz="25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Web Vitals, accessibility as a release gate, and the smallest observability that would have told you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85800" y="4991100"/>
            <a:ext cx="205740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991100"/>
            <a:ext cx="2057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5 · Block C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857500" y="4991100"/>
            <a:ext cx="14287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7500" y="4991100"/>
            <a:ext cx="1428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minutes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0550" y="4991100"/>
            <a:ext cx="22669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0550" y="4991100"/>
            <a:ext cx="22669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Updated 2026-10-04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Fictional CampusPulse case: fast page, failed experience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06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7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dashboard is green</a:t>
            </a:r>
            <a:endParaRPr lang="en-US" sz="2070" dirty="0"/>
          </a:p>
        </p:txBody>
      </p:sp>
      <p:sp>
        <p:nvSpPr>
          <p:cNvPr id="8" name="Text 6"/>
          <p:cNvSpPr/>
          <p:nvPr/>
        </p:nvSpPr>
        <p:spPr>
          <a:xfrm>
            <a:off x="685800" y="2927425"/>
            <a:ext cx="5219700" cy="2264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 s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INP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 ms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CLS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report request in the logs returns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release is declared healthy</a:t>
            </a:r>
            <a:endParaRPr lang="en-US" sz="2208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06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7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Maya cannot submit</a:t>
            </a:r>
            <a:endParaRPr lang="en-US" sz="2070" dirty="0"/>
          </a:p>
        </p:txBody>
      </p:sp>
      <p:sp>
        <p:nvSpPr>
          <p:cNvPr id="10" name="Text 8"/>
          <p:cNvSpPr/>
          <p:nvPr/>
        </p:nvSpPr>
        <p:spPr>
          <a:xfrm>
            <a:off x="6286500" y="2927425"/>
            <a:ext cx="5219700" cy="30498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Keyboard focus never reaches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outage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automated scanner reports no critical violation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useful SLI is completed reports, split by input path, not page loads</a:t>
            </a:r>
            <a:endParaRPr lang="en-US" sz="220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10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24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vitals, and one of them replaced the one you learned</a:t>
            </a:r>
            <a:endParaRPr lang="en-US" sz="3024" dirty="0"/>
          </a:p>
        </p:txBody>
      </p:sp>
      <p:sp>
        <p:nvSpPr>
          <p:cNvPr id="7" name="Text 5"/>
          <p:cNvSpPr/>
          <p:nvPr/>
        </p:nvSpPr>
        <p:spPr>
          <a:xfrm>
            <a:off x="685800" y="2007547"/>
            <a:ext cx="10820400" cy="2099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time to the largest visible element.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2.5 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p75. Bad means slow origin, render-blocking CSS, or an unoptimized hero</a:t>
            </a:r>
            <a:endParaRPr lang="en-US" sz="1728" dirty="0"/>
          </a:p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worst interaction to next paint.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200 ms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p75. Bad means long tasks on the main thread</a:t>
            </a:r>
            <a:endParaRPr lang="en-US" sz="1728" dirty="0"/>
          </a:p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unexpected layout movement.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0.1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Bad means unsized images, late banners, or a font swap</a:t>
            </a:r>
            <a:endParaRPr lang="en-US" sz="1728" dirty="0"/>
          </a:p>
        </p:txBody>
      </p:sp>
      <p:sp>
        <p:nvSpPr>
          <p:cNvPr id="8" name="Shape 6"/>
          <p:cNvSpPr/>
          <p:nvPr/>
        </p:nvSpPr>
        <p:spPr>
          <a:xfrm>
            <a:off x="685800" y="4203021"/>
            <a:ext cx="10820400" cy="1471070"/>
          </a:xfrm>
          <a:prstGeom prst="roundRect">
            <a:avLst>
              <a:gd name="adj" fmla="val 3108"/>
            </a:avLst>
          </a:prstGeom>
          <a:solidFill>
            <a:srgbClr val="3D1717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203021"/>
            <a:ext cx="76200" cy="1471070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17321"/>
            <a:ext cx="1036320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CA5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■  THIS BREAKS PRODUCTION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588593"/>
            <a:ext cx="10363200" cy="933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6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 replaced FID in March 2024.</a:t>
            </a:r>
            <a:pPr algn="l" indent="0" marL="0">
              <a:lnSpc>
                <a:spcPct val="102256"/>
              </a:lnSpc>
              <a:buNone/>
            </a:pPr>
            <a:r>
              <a:rPr lang="en-US" sz="16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If you learned First Input Delay, unlearn it. FID timed only the </a:t>
            </a:r>
            <a:pPr algn="l" indent="0" marL="0">
              <a:lnSpc>
                <a:spcPct val="102256"/>
              </a:lnSpc>
              <a:buNone/>
            </a:pPr>
            <a:r>
              <a:rPr lang="en-US" sz="1624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delay before</a:t>
            </a:r>
            <a:pPr algn="l" indent="0" marL="0">
              <a:lnSpc>
                <a:spcPct val="102256"/>
              </a:lnSpc>
              <a:buNone/>
            </a:pPr>
            <a:r>
              <a:rPr lang="en-US" sz="16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first handler ran — a page could score a perfect FID and still freeze for two seconds after every click.</a:t>
            </a:r>
            <a:endParaRPr lang="en-US" sz="1624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web.dev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 Web Vitals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INP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Google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INP becomes a Core Web Vital</a:t>
            </a:r>
            <a:endParaRPr lang="en-US" sz="12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and field answer different questions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1593008"/>
            <a:ext cx="10820400" cy="2266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Lighthouse, WebPageTest, your CI. One device, one network,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reproducible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so you can A/B a change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web-vitals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your own app. Every device and network,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reproducible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you cannot re-run Tuesday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gives you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which element, which script. Field gives you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verdict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is it bad, and for whom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3963819"/>
            <a:ext cx="10820400" cy="1560639"/>
          </a:xfrm>
          <a:prstGeom prst="roundRect">
            <a:avLst>
              <a:gd name="adj" fmla="val 2930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3963819"/>
            <a:ext cx="76200" cy="1560639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78119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368822"/>
            <a:ext cx="10363200" cy="10032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will have no CrUX data, and that is correct.</a:t>
            </a:r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Chrome's public field dataset only covers origins above a popularity threshold. A project three people have visited will never qualify — the absence of data is a property of the dataset, not a defect in your site.</a:t>
            </a:r>
            <a:endParaRPr lang="en-US" sz="176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CrUX methodology: eligibility</a:t>
            </a:r>
            <a:endParaRPr lang="en-US" sz="12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38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4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is a number you agreed to fail</a:t>
            </a:r>
            <a:endParaRPr lang="en-US" sz="2940" dirty="0"/>
          </a:p>
        </p:txBody>
      </p:sp>
      <p:sp>
        <p:nvSpPr>
          <p:cNvPr id="7" name="Shape 5"/>
          <p:cNvSpPr/>
          <p:nvPr/>
        </p:nvSpPr>
        <p:spPr>
          <a:xfrm>
            <a:off x="685800" y="1532786"/>
            <a:ext cx="10820400" cy="3166262"/>
          </a:xfrm>
          <a:prstGeom prst="roundRect">
            <a:avLst>
              <a:gd name="adj" fmla="val 1733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32786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51836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page, two delivery strategies — Lighthouse 13.4.1, mobile preset, 2026-08-15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CONSOLE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1982366"/>
            <a:ext cx="10439400" cy="259095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    /slow      /fast    budget   verdict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Performance score        59        100         —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First Contentful Paint  0.8 s     0.6 s     1.8 s   pass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Largest Contentful Pt   3.7 s     0.8 s     2.5 s   FAIL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Total Blocking Time    2750 ms      0 ms    200 ms  FAIL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Cumulative Layout Shift    0          0       0.1   pass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Same HTML. Same image. Three delivery changes: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render-blocking CSS on a slow response -&gt; critical CSS inlined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unsized &lt;img&gt;                          -&gt; width/height + fetchpriority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700 ms synchronous script              -&gt; deferred, off critical path</a:t>
            </a:r>
            <a:endParaRPr lang="en-US" sz="1260" dirty="0"/>
          </a:p>
        </p:txBody>
      </p:sp>
      <p:sp>
        <p:nvSpPr>
          <p:cNvPr id="11" name="Shape 9"/>
          <p:cNvSpPr/>
          <p:nvPr/>
        </p:nvSpPr>
        <p:spPr>
          <a:xfrm>
            <a:off x="685800" y="4805728"/>
            <a:ext cx="10820400" cy="1168454"/>
          </a:xfrm>
          <a:prstGeom prst="roundRect">
            <a:avLst>
              <a:gd name="adj" fmla="val 391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805728"/>
            <a:ext cx="76200" cy="116845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0028"/>
            <a:ext cx="10363200" cy="226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5184823"/>
            <a:ext cx="10363200" cy="6369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7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user-visible content. Only the resource scheduling and script execution changed. </a:t>
            </a:r>
            <a:pPr algn="l" indent="0" marL="0">
              <a:lnSpc>
                <a:spcPct val="102256"/>
              </a:lnSpc>
              <a:buNone/>
            </a:pPr>
            <a:r>
              <a:rPr lang="en-US" sz="1579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a first-class engineering decision, not a deployment detail.</a:t>
            </a:r>
            <a:endParaRPr lang="en-US" sz="1579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put both pages on screen and measure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repository root; Node 20+, no network needed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Set-Location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 ; node origin.mjs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A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B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 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"%{http_code}`n"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/fast"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Expect: 200 200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Start-Process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Then F12 &gt; Lighthouse &gt; Navigation + Mobile &gt; Analyze.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Repeat on /fast. Cleanup: Ctrl+C Terminal A when done.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/slow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/fast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handlers</a:t>
            </a:r>
            <a:endParaRPr lang="en-US" sz="12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put both pages on screen and measure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(zsh or bash) - Node 20+, no network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weeks/week05/samples &amp;&amp; node origin.mjs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A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B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 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'%{http_code}\n'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/fast"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Expect: 200 200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Then Cmd+Opt+I &gt; Lighthouse &gt; Navigation + Mobile &gt; Analyze.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Repeat on /fast. Cleanup: Ctrl-C Terminal A when done.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/slow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/fast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handlers</a:t>
            </a:r>
            <a:endParaRPr lang="en-US" sz="12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9597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Rendering strategy is a delivery decision, not a framework preference</a:t>
            </a:r>
            <a:endParaRPr lang="en-US" sz="2856" dirty="0"/>
          </a:p>
        </p:txBody>
      </p:sp>
      <p:sp>
        <p:nvSpPr>
          <p:cNvPr id="7" name="Text 5"/>
          <p:cNvSpPr/>
          <p:nvPr/>
        </p:nvSpPr>
        <p:spPr>
          <a:xfrm>
            <a:off x="685800" y="1951897"/>
            <a:ext cx="10820400" cy="26718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cheapest origin; content waits on JS. The shell and assets still cache well, the 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not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content in the first response; costs origin work per request, 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it is dynamic: mind the cache key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SSG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 origin work, fully edge-cacheable, and stale until you rebuild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SSG's economics with a bounded staleness window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"how fresh must this be, is it the same for everyone, and who pays for it?" — that picks the strategy</a:t>
            </a:r>
            <a:endParaRPr lang="en-US" sz="1632" dirty="0"/>
          </a:p>
        </p:txBody>
      </p:sp>
      <p:sp>
        <p:nvSpPr>
          <p:cNvPr id="8" name="Shape 6"/>
          <p:cNvSpPr/>
          <p:nvPr/>
        </p:nvSpPr>
        <p:spPr>
          <a:xfrm>
            <a:off x="685800" y="4714451"/>
            <a:ext cx="10820400" cy="1146391"/>
          </a:xfrm>
          <a:prstGeom prst="roundRect">
            <a:avLst>
              <a:gd name="adj" fmla="val 3988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714451"/>
            <a:ext cx="76200" cy="1146391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28751"/>
            <a:ext cx="10363200" cy="220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5087069"/>
            <a:ext cx="10363200" cy="621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 is 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stale-while-revalidate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implemented in your framework instead of your CDN. You already know the semantics; only the vendor changed.</a:t>
            </a:r>
            <a:endParaRPr lang="en-US" sz="153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release gate people skip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Accessibility</a:t>
            </a:r>
            <a:endParaRPr lang="en-US" sz="4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25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scanner is clean-ish. The page is not usable</a:t>
            </a:r>
            <a:endParaRPr lang="en-US" sz="2856" dirty="0"/>
          </a:p>
        </p:txBody>
      </p:sp>
      <p:sp>
        <p:nvSpPr>
          <p:cNvPr id="7" name="Shape 5"/>
          <p:cNvSpPr/>
          <p:nvPr/>
        </p:nvSpPr>
        <p:spPr>
          <a:xfrm>
            <a:off x="685800" y="1517730"/>
            <a:ext cx="10820400" cy="2874112"/>
          </a:xfrm>
          <a:prstGeom prst="roundRect">
            <a:avLst>
              <a:gd name="adj" fmla="val 1909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1773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3678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axe-core 4.12.1 against samples/origin.mjs /a11y — real output, 2026-08-15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CONSOLE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1967310"/>
            <a:ext cx="10439400" cy="22988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 </a:t>
            </a:r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@axe-core/cli http://127.0.0.1:8080/a11y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"color-contrast" with 3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"image-alt"      with 1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"tabindex"       with 1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5 Accessibility issues detected.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Please note that only 20% to 50% of all accessibility issues can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automatically be detected. Manual testing is always required.</a:t>
            </a:r>
            <a:endParaRPr lang="en-US" sz="1224" dirty="0"/>
          </a:p>
        </p:txBody>
      </p:sp>
      <p:sp>
        <p:nvSpPr>
          <p:cNvPr id="11" name="Shape 9"/>
          <p:cNvSpPr/>
          <p:nvPr/>
        </p:nvSpPr>
        <p:spPr>
          <a:xfrm>
            <a:off x="685800" y="4495474"/>
            <a:ext cx="10820400" cy="1146391"/>
          </a:xfrm>
          <a:prstGeom prst="roundRect">
            <a:avLst>
              <a:gd name="adj" fmla="val 3988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495474"/>
            <a:ext cx="76200" cy="1146391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609774"/>
            <a:ext cx="10363200" cy="220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868092"/>
            <a:ext cx="10363200" cy="621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last paragraph is printed by the axe CLI itself, unprompted. </a:t>
            </a:r>
            <a:pPr algn="l" indent="0" marL="0">
              <a:lnSpc>
                <a:spcPct val="102256"/>
              </a:lnSpc>
              <a:buNone/>
            </a:pPr>
            <a:r>
              <a:rPr lang="en-US" sz="153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ships their scanner with a disclaimer about their scanner.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Read it as an instruction, not a footnote.</a:t>
            </a:r>
            <a:endParaRPr lang="en-US" sz="1534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rule descriptions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W3C WAI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Meet WCAG 2.2</a:t>
            </a:r>
            <a:endParaRPr lang="en-US" sz="12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the scanner, then your hands off the mouse</a:t>
            </a:r>
            <a:endParaRPr lang="en-US" sz="3192" dirty="0"/>
          </a:p>
        </p:txBody>
      </p:sp>
      <p:sp>
        <p:nvSpPr>
          <p:cNvPr id="9" name="Shape 7"/>
          <p:cNvSpPr/>
          <p:nvPr/>
        </p:nvSpPr>
        <p:spPr>
          <a:xfrm>
            <a:off x="685800" y="2119735"/>
            <a:ext cx="5238750" cy="3595265"/>
          </a:xfrm>
          <a:prstGeom prst="roundRect">
            <a:avLst>
              <a:gd name="adj" fmla="val 127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34035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576935"/>
            <a:ext cx="4781550" cy="29855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Origin running?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 origin.mjs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weeks/week05/samples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2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scanner. Read its own disclaimer aloud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once into the page, then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Tab, Enter, Escape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only</a:t>
            </a:r>
            <a:endParaRPr lang="en-US" sz="2160" dirty="0"/>
          </a:p>
        </p:txBody>
      </p:sp>
      <p:sp>
        <p:nvSpPr>
          <p:cNvPr id="12" name="Shape 10"/>
          <p:cNvSpPr/>
          <p:nvPr/>
        </p:nvSpPr>
        <p:spPr>
          <a:xfrm>
            <a:off x="6267450" y="2119735"/>
            <a:ext cx="5238750" cy="2013349"/>
          </a:xfrm>
          <a:prstGeom prst="roundRect">
            <a:avLst>
              <a:gd name="adj" fmla="val 2271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34035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576935"/>
            <a:ext cx="4781550" cy="946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rules found; Enter does nothing; focus invisible</a:t>
            </a:r>
            <a:endParaRPr lang="en-US" sz="2208" dirty="0"/>
          </a:p>
        </p:txBody>
      </p:sp>
      <p:sp>
        <p:nvSpPr>
          <p:cNvPr id="15" name="Shape 13"/>
          <p:cNvSpPr/>
          <p:nvPr/>
        </p:nvSpPr>
        <p:spPr>
          <a:xfrm>
            <a:off x="6267450" y="4323583"/>
            <a:ext cx="5238750" cy="1391417"/>
          </a:xfrm>
          <a:prstGeom prst="roundRect">
            <a:avLst>
              <a:gd name="adj" fmla="val 3286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3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780783"/>
            <a:ext cx="4781550" cy="8044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Chrome? Do step 3 alone. See </a:t>
            </a:r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lab.md</a:t>
            </a:r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§5b.</a:t>
            </a:r>
            <a:endParaRPr lang="en-US" sz="2064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planted defects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 §5</a:t>
            </a:r>
            <a:endParaRPr lang="en-US" sz="12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run the scanner, then open the page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2844356"/>
          </a:xfrm>
          <a:prstGeom prst="roundRect">
            <a:avLst>
              <a:gd name="adj" fmla="val 1929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 root; origin on 8080; Chrome at shown path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26904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'http://127.0.0.1:8080/a11y'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Join-Path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$env:ProgramFiles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'Google\Chrome\Application\chrome.exe'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"a11y=%{http_code}`n"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First npx use needs internet; adjust the browser path if necessary.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--yes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-core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--version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--yes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-core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--chrome-path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Start-Process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-FilePath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-ArgumentList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CLI</a:t>
            </a:r>
            <a:endParaRPr lang="en-US" sz="12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run the scanner, then open the page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- repo root; origin on 8080; Chrome installed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'http://127.0.0.1:8080/a11y'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chrome_dir=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'/Applications/Google Chrome.app/Contents/MacOS'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$chrome_dir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/Google Chrome"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'a11y=%{http_code}\n'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First npx use needs internet; adjust the browser path if necessary.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--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@axe-core/cli --version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--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@axe-core/cli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--chrome-path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 -a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"Google Chrome"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CLI</a:t>
            </a:r>
            <a:endParaRPr lang="en-US" sz="12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page, keyboard only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177767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axe reported</a:t>
            </a:r>
            <a:endParaRPr lang="en-US" sz="2160" dirty="0"/>
          </a:p>
        </p:txBody>
      </p:sp>
      <p:sp>
        <p:nvSpPr>
          <p:cNvPr id="8" name="Text 6"/>
          <p:cNvSpPr/>
          <p:nvPr/>
        </p:nvSpPr>
        <p:spPr>
          <a:xfrm>
            <a:off x="685800" y="2307199"/>
            <a:ext cx="5219700" cy="15398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low-contrast elements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image with no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positive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tabindex</a:t>
            </a:r>
            <a:endParaRPr lang="en-US" sz="2304" dirty="0"/>
          </a:p>
        </p:txBody>
      </p:sp>
      <p:sp>
        <p:nvSpPr>
          <p:cNvPr id="9" name="Text 7"/>
          <p:cNvSpPr/>
          <p:nvPr/>
        </p:nvSpPr>
        <p:spPr>
          <a:xfrm>
            <a:off x="685800" y="3975064"/>
            <a:ext cx="5219700" cy="8873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Lighthouse accessibility: </a:t>
            </a:r>
            <a:pPr algn="l" indent="0" marL="0">
              <a:lnSpc>
                <a:spcPct val="102256"/>
              </a:lnSpc>
              <a:buNone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/ 100</a:t>
            </a:r>
            <a:endParaRPr lang="en-US" sz="2304" dirty="0"/>
          </a:p>
        </p:txBody>
      </p:sp>
      <p:sp>
        <p:nvSpPr>
          <p:cNvPr id="10" name="Text 8"/>
          <p:cNvSpPr/>
          <p:nvPr/>
        </p:nvSpPr>
        <p:spPr>
          <a:xfrm>
            <a:off x="685800" y="4990414"/>
            <a:ext cx="5219700" cy="4893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rule </a:t>
            </a:r>
            <a:pPr algn="l" indent="0" marL="0">
              <a:lnSpc>
                <a:spcPct val="102256"/>
              </a:lnSpc>
              <a:buNone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passed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2 nodes.</a:t>
            </a:r>
            <a:endParaRPr lang="en-US" sz="2304" dirty="0"/>
          </a:p>
        </p:txBody>
      </p:sp>
      <p:sp>
        <p:nvSpPr>
          <p:cNvPr id="11" name="Text 9"/>
          <p:cNvSpPr/>
          <p:nvPr/>
        </p:nvSpPr>
        <p:spPr>
          <a:xfrm>
            <a:off x="6286500" y="177767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Tab and Enter found</a:t>
            </a:r>
            <a:endParaRPr lang="en-US" sz="2160" dirty="0"/>
          </a:p>
        </p:txBody>
      </p:sp>
      <p:sp>
        <p:nvSpPr>
          <p:cNvPr id="12" name="Text 10"/>
          <p:cNvSpPr/>
          <p:nvPr/>
        </p:nvSpPr>
        <p:spPr>
          <a:xfrm>
            <a:off x="6286500" y="2307199"/>
            <a:ext cx="5219700" cy="36612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is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invisible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 { outline: none }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Submit "button" is a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does nothing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dialog ignores Escape and strands focus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"label" is a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placeholder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it vanishes as you type</a:t>
            </a:r>
            <a:endParaRPr lang="en-US" sz="230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27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52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exact keystrokes, and what to watch for</a:t>
            </a:r>
            <a:endParaRPr lang="en-US" sz="3528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38175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268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Watch for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 ×1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from the address bar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Focus lands on "Back to status" — last visually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 ×2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 Building code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placeholder is the only label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481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any key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Building code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label is gone while you type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481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Enter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Submit report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Nothing happens — it is a div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mouse, then Escape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help dialog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 stays open; focus never entered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W3C WAI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Keyboard accessibility</a:t>
            </a:r>
            <a:endParaRPr lang="en-US" sz="12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page proves, and what it does not</a:t>
            </a:r>
            <a:endParaRPr lang="en-US" sz="3192" dirty="0"/>
          </a:p>
        </p:txBody>
      </p:sp>
      <p:sp>
        <p:nvSpPr>
          <p:cNvPr id="7" name="Text 5"/>
          <p:cNvSpPr/>
          <p:nvPr/>
        </p:nvSpPr>
        <p:spPr>
          <a:xfrm>
            <a:off x="685800" y="1577953"/>
            <a:ext cx="10820400" cy="29754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defect above is a pattern that ships in production code, and the keyboard finds all of them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scanner's own printed disclaimer is its vendor's position, not ours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Fixture: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defect list is curated and documented — a real page has no answer key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Pinned: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3 rules / 5 occurrences is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axe-core 4.12.1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a newer build may catch more, or fewer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score: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Lighthouse gave this page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/ 100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a keyboard user cannot submit the form</a:t>
            </a:r>
            <a:endParaRPr lang="en-US" sz="1824" dirty="0"/>
          </a:p>
        </p:txBody>
      </p:sp>
      <p:sp>
        <p:nvSpPr>
          <p:cNvPr id="8" name="Shape 6"/>
          <p:cNvSpPr/>
          <p:nvPr/>
        </p:nvSpPr>
        <p:spPr>
          <a:xfrm>
            <a:off x="685800" y="4654756"/>
            <a:ext cx="10820400" cy="1234644"/>
          </a:xfrm>
          <a:prstGeom prst="roundRect">
            <a:avLst>
              <a:gd name="adj" fmla="val 3703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54756"/>
            <a:ext cx="76200" cy="1234644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69056"/>
            <a:ext cx="10363200" cy="246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4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54" dirty="0"/>
          </a:p>
        </p:txBody>
      </p:sp>
      <p:sp>
        <p:nvSpPr>
          <p:cNvPr id="11" name="Text 9"/>
          <p:cNvSpPr/>
          <p:nvPr/>
        </p:nvSpPr>
        <p:spPr>
          <a:xfrm>
            <a:off x="914400" y="5053282"/>
            <a:ext cx="10363200" cy="683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"The scanner found nothing" is not a result on your own app until you have also done the five-minute keyboard pass. The scan and the pass answer different questions.</a:t>
            </a:r>
            <a:endParaRPr lang="en-US" sz="171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36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0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five-minute keyboard pass, before every release</a:t>
            </a:r>
            <a:endParaRPr lang="en-US" sz="3108" dirty="0"/>
          </a:p>
        </p:txBody>
      </p:sp>
      <p:sp>
        <p:nvSpPr>
          <p:cNvPr id="7" name="Text 5"/>
          <p:cNvSpPr/>
          <p:nvPr/>
        </p:nvSpPr>
        <p:spPr>
          <a:xfrm>
            <a:off x="685800" y="2035372"/>
            <a:ext cx="10820400" cy="22680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1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from the top.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1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Can you reach every control? Does the order match the visual order?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2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you see where you are?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2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If the focus ring is invisible, stop. Everything after this is guesswork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3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and Space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3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everything focusable. Does it do what clicking does?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4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dialog.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4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focus move in, stay in, leave on Escape, and return where it started?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5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Cause an error.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5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it announced, associated with the field, and readable without colour?</a:t>
            </a:r>
            <a:endParaRPr lang="en-US" sz="1776" dirty="0"/>
          </a:p>
        </p:txBody>
      </p:sp>
      <p:sp>
        <p:nvSpPr>
          <p:cNvPr id="8" name="Shape 6"/>
          <p:cNvSpPr/>
          <p:nvPr/>
        </p:nvSpPr>
        <p:spPr>
          <a:xfrm>
            <a:off x="685800" y="4402068"/>
            <a:ext cx="10820400" cy="1212580"/>
          </a:xfrm>
          <a:prstGeom prst="roundRect">
            <a:avLst>
              <a:gd name="adj" fmla="val 3770"/>
            </a:avLst>
          </a:prstGeom>
          <a:solidFill>
            <a:srgbClr val="10321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402068"/>
            <a:ext cx="76200" cy="1212580"/>
          </a:xfrm>
          <a:prstGeom prst="rect">
            <a:avLst/>
          </a:prstGeom>
          <a:solidFill>
            <a:srgbClr val="86EF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516368"/>
            <a:ext cx="10363200" cy="239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1" b="1" spc="100" kern="0" dirty="0">
                <a:solidFill>
                  <a:srgbClr val="86EFA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✦  TIP</a:t>
            </a:r>
            <a:endParaRPr lang="en-US" sz="1221" dirty="0"/>
          </a:p>
        </p:txBody>
      </p:sp>
      <p:sp>
        <p:nvSpPr>
          <p:cNvPr id="11" name="Text 9"/>
          <p:cNvSpPr/>
          <p:nvPr/>
        </p:nvSpPr>
        <p:spPr>
          <a:xfrm>
            <a:off x="914400" y="4794117"/>
            <a:ext cx="10363200" cy="668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66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minutes, no tools, no install. It finds more real defects than any scanner you can buy, and you can run it on the pull request.</a:t>
            </a:r>
            <a:endParaRPr lang="en-US" sz="1669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the fallbacks, and stopping the origin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repository root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Get-Content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.\weeks\week05\samples\k6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-baseline-summary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.txt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Get-Content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.\weeks\week05\samples\campuspulse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-load-profile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Cleanup: Ctrl+C the origin in Terminal A, and close the tabs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on /a11y, /slow and /fast. That is the whole cleanup.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If 8080 looks busy, LOOK - never end what you did not start: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Get-NetTCPConnection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-LocalPort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8080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-State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Listen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-EA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Ignore |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ForEach-Object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Get-Process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-Id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$_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.OwningProcess }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Busy port? Use the saved captures; leave other processes alone.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captured k6 baseline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load profile</a:t>
            </a:r>
            <a:endParaRPr lang="en-US" sz="12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the fallbacks, and stopping the origin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2939034"/>
          </a:xfrm>
          <a:prstGeom prst="roundRect">
            <a:avLst>
              <a:gd name="adj" fmla="val 1867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(zsh or bash) - repository root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36372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 weeks/week05/samples/k6-baseline-summary.txt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q quits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 weeks/week05/samples/campuspulse-load-profile.js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Cleanup: Ctrl-C the origin in Terminal A, and close the tabs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on /a11y, /slow and /fast. That is the whole cleanup.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If 8080 looks busy, LOOK - never end what you did not start: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lsof -nP -iTCP:8080 -sTCP:LISTEN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Busy port? Use the saved captures; leave other processes alone.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captured k6 baseline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load profile</a:t>
            </a:r>
            <a:endParaRPr lang="en-US" sz="127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Knowing before your users tell you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</a:t>
            </a:r>
            <a:endParaRPr lang="en-US" sz="4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6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8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telemetry signals</a:t>
            </a:r>
            <a:endParaRPr lang="en-US" sz="3780" dirty="0"/>
          </a:p>
        </p:txBody>
      </p:sp>
      <p:sp>
        <p:nvSpPr>
          <p:cNvPr id="7" name="Text 5"/>
          <p:cNvSpPr/>
          <p:nvPr/>
        </p:nvSpPr>
        <p:spPr>
          <a:xfrm>
            <a:off x="685800" y="1683342"/>
            <a:ext cx="10820400" cy="27386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what happened once, as structured JSON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how often, how slow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where the time went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and traces join on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link to traces through exemplars — never put trace ids in metric labels</a:t>
            </a:r>
            <a:endParaRPr lang="en-US" sz="2160" dirty="0"/>
          </a:p>
        </p:txBody>
      </p:sp>
      <p:sp>
        <p:nvSpPr>
          <p:cNvPr id="8" name="Shape 6"/>
          <p:cNvSpPr/>
          <p:nvPr/>
        </p:nvSpPr>
        <p:spPr>
          <a:xfrm>
            <a:off x="685800" y="4541985"/>
            <a:ext cx="10820400" cy="1389086"/>
          </a:xfrm>
          <a:prstGeom prst="roundRect">
            <a:avLst>
              <a:gd name="adj" fmla="val 3291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541985"/>
            <a:ext cx="76200" cy="138908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56285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1" name="Text 9"/>
          <p:cNvSpPr/>
          <p:nvPr/>
        </p:nvSpPr>
        <p:spPr>
          <a:xfrm>
            <a:off x="914400" y="4985850"/>
            <a:ext cx="10363200" cy="79282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useful log field here is </a:t>
            </a:r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"cache":"MISS"</a:t>
            </a:r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it turns "the API was slow" into "the edge missed."</a:t>
            </a:r>
            <a:endParaRPr lang="en-US" sz="20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87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SLO is a sentence about users. A dashboard is not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2091022"/>
            <a:ext cx="10820400" cy="20528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measurement.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"Proportion of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requests served in under 500 ms"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target over a window.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"99% of those, over 28 days"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budget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what the SLO permits you to lose: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1% of eligible requests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Time-based instead?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"99% of one-minute windows are good"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1% of 28 days is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h 43 m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on the SLI burning the budget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on CPU, not on a single 500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4247863"/>
            <a:ext cx="10820400" cy="1256707"/>
          </a:xfrm>
          <a:prstGeom prst="roundRect">
            <a:avLst>
              <a:gd name="adj" fmla="val 3638"/>
            </a:avLst>
          </a:prstGeom>
          <a:solidFill>
            <a:srgbClr val="3D1717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247863"/>
            <a:ext cx="76200" cy="1256707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62163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FCA5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■  THIS BREAKS PRODUCTION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652866"/>
            <a:ext cx="10363200" cy="69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alert that fires when nothing is wrong trains people to ignore it. The next one is real, and by then nobody looks. </a:t>
            </a:r>
            <a:pPr algn="l" indent="0" marL="0">
              <a:lnSpc>
                <a:spcPct val="102256"/>
              </a:lnSpc>
              <a:buNone/>
            </a:pPr>
            <a:r>
              <a:rPr lang="en-US" sz="17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fatigue is a design failure, not a discipline failure.</a:t>
            </a:r>
            <a:endParaRPr lang="en-US" sz="176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Level Objectives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Alerting on SLOs</a:t>
            </a:r>
            <a:endParaRPr lang="en-US" sz="127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silent write (4 min) → write one SLO on paper (2 min) → cold call (4 min)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738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status page renders in 900 ms but nobody can submit a report. What tells you?</a:t>
            </a:r>
            <a:endParaRPr lang="en-US" sz="3612" dirty="0"/>
          </a:p>
        </p:txBody>
      </p:sp>
      <p:sp>
        <p:nvSpPr>
          <p:cNvPr id="10" name="Text 8"/>
          <p:cNvSpPr/>
          <p:nvPr/>
        </p:nvSpPr>
        <p:spPr>
          <a:xfrm>
            <a:off x="685800" y="3875366"/>
            <a:ext cx="10820400" cy="1821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1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Lighthouse in CI — scored 98 this morning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run in the pipeline — zero violations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3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metric: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3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http_requests_total{route="/incidents",status="2xx"}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uptime check hitting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/healthz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60 s</a:t>
            </a:r>
            <a:endParaRPr lang="en-US" sz="206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Level Objectives</a:t>
            </a:r>
            <a:endParaRPr lang="en-US" sz="127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Individual practice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6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8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Individual lab: cache and experience</a:t>
            </a:r>
            <a:endParaRPr lang="en-US" sz="3780" dirty="0"/>
          </a:p>
        </p:txBody>
      </p:sp>
      <p:sp>
        <p:nvSpPr>
          <p:cNvPr id="7" name="Text 5"/>
          <p:cNvSpPr/>
          <p:nvPr/>
        </p:nvSpPr>
        <p:spPr>
          <a:xfrm>
            <a:off x="685800" y="1683342"/>
            <a:ext cx="10820400" cy="4645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Core: 30 min + 5 min recovery. Parts 1 and 3 are optional.</a:t>
            </a:r>
            <a:endParaRPr lang="en-US" sz="216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67872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450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Focus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764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Two terminals, two synthetic accounts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Observe all four cache states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account-page isolation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axe plus keyboard access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SLI, SLO, and alert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5 lab: full commands, expected output, and troubleshooting</a:t>
            </a:r>
            <a:endParaRPr lang="en-US" sz="127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Homework brief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HW5 — Own the Edge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1593008"/>
            <a:ext cx="10820400" cy="27779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CDN in front of your domain and build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cache-policy matrix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at least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content classes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each with its layer, key, invalidation, and rationale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app-layer cache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(cache-aside, Redis or memory) with HIT/MISS evidence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all four cache states, and reproduce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revert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cache-poisoning near-miss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 against a stated performance budget and pilot your own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web-vitals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record a keyboard-only walkthrough that finds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1 defect the scan missed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up one SLI, one SLO, and one alert that has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actually fired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4474968"/>
            <a:ext cx="10820400" cy="1256707"/>
          </a:xfrm>
          <a:prstGeom prst="roundRect">
            <a:avLst>
              <a:gd name="adj" fmla="val 3638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474968"/>
            <a:ext cx="76200" cy="1256707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589268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879971"/>
            <a:ext cx="10363200" cy="69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points · individual · due at the start of Week 6, before the midterm. This is Gate 3 — Delivered and observable. Full handout: </a:t>
            </a:r>
            <a:pPr algn="l" indent="0" marL="0">
              <a:lnSpc>
                <a:spcPct val="102256"/>
              </a:lnSpc>
              <a:buNone/>
            </a:pPr>
            <a:r>
              <a:rPr lang="en-US" sz="1760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homework.md</a:t>
            </a:r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7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Closing logistics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26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you leave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1777670"/>
            <a:ext cx="5219700" cy="4266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Released today</a:t>
            </a:r>
            <a:endParaRPr lang="en-US" sz="2205" dirty="0"/>
          </a:p>
        </p:txBody>
      </p:sp>
      <p:sp>
        <p:nvSpPr>
          <p:cNvPr id="8" name="Text 6"/>
          <p:cNvSpPr/>
          <p:nvPr/>
        </p:nvSpPr>
        <p:spPr>
          <a:xfrm>
            <a:off x="685800" y="2316326"/>
            <a:ext cx="5219700" cy="36609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midterm blueprint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 forensic case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midterm is Week 6.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Sit the practice case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week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closed-book and timed, while Weeks 1–5 are still warm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complete the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6 prep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before class</a:t>
            </a:r>
            <a:endParaRPr lang="en-US" sz="2352" dirty="0"/>
          </a:p>
        </p:txBody>
      </p:sp>
      <p:sp>
        <p:nvSpPr>
          <p:cNvPr id="9" name="Text 7"/>
          <p:cNvSpPr/>
          <p:nvPr/>
        </p:nvSpPr>
        <p:spPr>
          <a:xfrm>
            <a:off x="6286500" y="1777670"/>
            <a:ext cx="5219700" cy="4266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Exit ticket — one line</a:t>
            </a:r>
            <a:endParaRPr lang="en-US" sz="2205" dirty="0"/>
          </a:p>
        </p:txBody>
      </p:sp>
      <p:sp>
        <p:nvSpPr>
          <p:cNvPr id="10" name="Text 8"/>
          <p:cNvSpPr/>
          <p:nvPr/>
        </p:nvSpPr>
        <p:spPr>
          <a:xfrm>
            <a:off x="6286500" y="2316326"/>
            <a:ext cx="5219700" cy="1838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one SLO for a feature on your own project, in the form: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"X% of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complete in under Y, measured over Z days."</a:t>
            </a:r>
            <a:endParaRPr lang="en-US" sz="235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DePaul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the human experience — and knowing when it breaks — Week 5 Block C</dc:title>
  <dc:subject>Core Web Vitals, accessibility as a release gate, and the smallest observability that would have told you</dc:subject>
  <dc:creator>Course staff</dc:creator>
  <cp:lastModifiedBy>Course staff</cp:lastModifiedBy>
  <cp:revision>1</cp:revision>
  <dcterms:created xsi:type="dcterms:W3CDTF">2026-10-04T22:48:20Z</dcterms:created>
  <dcterms:modified xsi:type="dcterms:W3CDTF">2026-10-04T22:48:20Z</dcterms:modified>
</cp:coreProperties>
</file>