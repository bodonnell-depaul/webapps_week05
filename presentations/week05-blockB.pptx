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MDN — [Service Worker API](https://developer.mozilla.org/en-US/docs/Web/API/Service_Worker_API)
Varnish — [Introduction](https://varnish-cache.org/intro/) · Nginx — [`proxy_cache`](https://nginx.org/en/docs/http/ngx_http_proxy_module.html)
USENIX NSDI '13 — [Scaling Memcache at Facebook](https://www.usenix.org/conference/nsdi13/technical-sessions/presentation/nishtala)
AWS — [Caching overview](https://aws.amazon.com/caching/)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Course — [`react-node-cache` sample](../samples/react-node-cache/README.md)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Vite — [Building for production](https://vite.dev/guide/build)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Express 5 — [`express.static` and `res.sendFile`](https://expressjs.com/en/5x/api.html)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Redis — [Caching](https://redis.io/solutions/caching/) · [Node.js client](https://redis.io/docs/latest/develop/clients/nodejs/)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TanStack Query — [Caching examples](https://tanstack.com/query/latest/docs/framework/react/guides/caching)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Course — [`react-node-cache` README](../samples/react-node-cache/README.md)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Chrome for Developers — [Workbox caching strategies](https://developer.chrome.com/docs/workbox/caching-strategies-overview)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MDN — [HTTP caching](https://developer.mozilla.org/en-US/docs/Web/HTTP/Guides/Caching)
IETF — [RFC 9111, HTTP Caching](https://www.rfc-editor.org/rfc/rfc9111.html)
Course — [Week 5 reference](../reference.md)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MDN — [Compression in HTTP](https://developer.mozilla.org/en-US/docs/Web/HTTP/Guides/Compression)
MDN — [Responsive images](https://developer.mozilla.org/en-US/docs/Web/HTML/Guides/Responsive_images)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Course — [`react-node-cache` sample](../samples/react-node-cache/README.md)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API/Service_Worker_API" TargetMode="External"/><Relationship Id="rId2" Type="http://schemas.openxmlformats.org/officeDocument/2006/relationships/hyperlink" Target="https://varnish-cache.org/intro/" TargetMode="External"/><Relationship Id="rId3" Type="http://schemas.openxmlformats.org/officeDocument/2006/relationships/hyperlink" Target="https://nginx.org/en/docs/http/ngx_http_proxy_module.html" TargetMode="External"/><Relationship Id="rId4" Type="http://schemas.openxmlformats.org/officeDocument/2006/relationships/hyperlink" Target="https://www.usenix.org/conference/nsdi13/technical-sessions/presentation/nishtala" TargetMode="External"/><Relationship Id="rId5" Type="http://schemas.openxmlformats.org/officeDocument/2006/relationships/hyperlink" Target="https://aws.amazon.com/caching/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../samples/react-node-cache/README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vite.dev/guide/buil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expressjs.com/en/5x/api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redis.io/solutions/caching/" TargetMode="External"/><Relationship Id="rId2" Type="http://schemas.openxmlformats.org/officeDocument/2006/relationships/hyperlink" Target="https://redis.io/docs/latest/develop/clients/nodejs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tanstack.com/query/latest/docs/framework/react/guides/cach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../samples/react-node-cache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chrome.com/docs/workbox/caching-strategies-overvie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HTTP/Guides/Caching" TargetMode="External"/><Relationship Id="rId2" Type="http://schemas.openxmlformats.org/officeDocument/2006/relationships/hyperlink" Target="https://www.rfc-editor.org/rfc/rfc9111.html" TargetMode="External"/><Relationship Id="rId3" Type="http://schemas.openxmlformats.org/officeDocument/2006/relationships/hyperlink" Target="../reference.md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HTTP/Guides/Compression" TargetMode="External"/><Relationship Id="rId2" Type="http://schemas.openxmlformats.org/officeDocument/2006/relationships/hyperlink" Target="https://developer.mozilla.org/en-US/docs/Web/HTML/Guides/Responsive_image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../samples/react-node-cache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67640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038350"/>
            <a:ext cx="10287000" cy="18244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57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Caching technologies, layer by layer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85800" y="3977107"/>
            <a:ext cx="9525000" cy="8996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3985"/>
              </a:lnSpc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Browser, service worker, React data cache, CDN, reverse proxy, Redis, and the database — and one React + Node app that configures four of them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4991100"/>
            <a:ext cx="205740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991100"/>
            <a:ext cx="20574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5 · Block B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857500" y="4991100"/>
            <a:ext cx="142875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57500" y="4991100"/>
            <a:ext cx="1428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minutes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0550" y="4991100"/>
            <a:ext cx="226695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00550" y="4991100"/>
            <a:ext cx="22669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Updated 2026-10-04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cache stack, from the tab to the database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28873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303520"/>
            <a:ext cx="10820400" cy="678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layer is closer to the user, faster, and knows less about whether its copy is still true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256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5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each layer is good at, and who uses it</a:t>
            </a:r>
            <a:endParaRPr lang="en-US" sz="2856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730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378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</a:t>
                      </a:r>
                      <a:endParaRPr lang="en-US" sz="122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 for</a:t>
                      </a:r>
                      <a:endParaRPr lang="en-US" sz="122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Real-world example</a:t>
                      </a:r>
                      <a:endParaRPr lang="en-US" sz="122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React data cache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refetching the same API data on every render or route change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TanStack Query in a React dashboard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worker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Offline and instant repeat loads; app-shell caching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Offline-capable progressive web apps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HTTP cache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JS, CSS, images, fonts with long lifetimes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site: hashed bundle files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CDN edge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Static files and public responses near users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 segments, product images, /api/status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Reverse proxy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Caching whole responses in front of slow app servers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Nginx proxy_cache, Varnish on news sites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 cache (Redis)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Expensive query results, sessions, rate-limit counters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Facebook's memcache tier — billions of requests a second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 Worker API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Varnish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Nginx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proxy_cache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USENIX NSDI '13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Scaling Memcache at Facebook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Caching overview</a:t>
            </a:r>
            <a:endParaRPr lang="en-US" sz="12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27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52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questions pick the layer for you</a:t>
            </a:r>
            <a:endParaRPr lang="en-US" sz="3528" dirty="0"/>
          </a:p>
        </p:txBody>
      </p:sp>
      <p:sp>
        <p:nvSpPr>
          <p:cNvPr id="7" name="Text 5"/>
          <p:cNvSpPr/>
          <p:nvPr/>
        </p:nvSpPr>
        <p:spPr>
          <a:xfrm>
            <a:off x="685800" y="1638175"/>
            <a:ext cx="10820400" cy="28565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may see this copy?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One user → device layers only. Everyone → any layer</a:t>
            </a:r>
            <a:endParaRPr lang="en-US" sz="2016" dirty="0"/>
          </a:p>
          <a:p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stale may it be?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Never → don't cache, or revalidate every time. Seconds → short TTL. Forever → hashed name</a:t>
            </a:r>
            <a:endParaRPr lang="en-US" sz="2016" dirty="0"/>
          </a:p>
          <a:p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expensive is a miss?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300 ms query hit 1,000 times a minute is worth caching; a 2 ms lookup may not be</a:t>
            </a:r>
            <a:endParaRPr lang="en-US" sz="2016" dirty="0"/>
          </a:p>
          <a:p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will you throw it away?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Expire on a timer, delete on write, or change the name — decide 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caching</a:t>
            </a:r>
            <a:endParaRPr lang="en-US" sz="2016" dirty="0"/>
          </a:p>
        </p:txBody>
      </p:sp>
      <p:sp>
        <p:nvSpPr>
          <p:cNvPr id="8" name="Shape 6"/>
          <p:cNvSpPr/>
          <p:nvPr/>
        </p:nvSpPr>
        <p:spPr>
          <a:xfrm>
            <a:off x="685800" y="4606775"/>
            <a:ext cx="10820400" cy="1322897"/>
          </a:xfrm>
          <a:prstGeom prst="roundRect">
            <a:avLst>
              <a:gd name="adj" fmla="val 3456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606775"/>
            <a:ext cx="76200" cy="1322897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721075"/>
            <a:ext cx="10363200" cy="2720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86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386" dirty="0"/>
          </a:p>
        </p:txBody>
      </p:sp>
      <p:sp>
        <p:nvSpPr>
          <p:cNvPr id="11" name="Text 9"/>
          <p:cNvSpPr/>
          <p:nvPr/>
        </p:nvSpPr>
        <p:spPr>
          <a:xfrm>
            <a:off x="914400" y="5031209"/>
            <a:ext cx="10363200" cy="746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89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 cannot answer the fourth question, you are not ready to add the cache. Stale data that you cannot remove is a bug you shipped on purpose.</a:t>
            </a:r>
            <a:endParaRPr lang="en-US" sz="189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Worked example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CampusPulse in React + Node, cached end to end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kinds of response, four caching decisions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26206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036820"/>
            <a:ext cx="10820400" cy="678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Express server serves the React build and the API, and makes a different caching decision for each route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react-node-cache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sample</a:t>
            </a:r>
            <a:endParaRPr lang="en-US" sz="12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1 — Vite already fingerprints your build</a:t>
            </a:r>
            <a:endParaRPr lang="en-US" sz="3192" dirty="0"/>
          </a:p>
        </p:txBody>
      </p:sp>
      <p:sp>
        <p:nvSpPr>
          <p:cNvPr id="7" name="Shape 5"/>
          <p:cNvSpPr/>
          <p:nvPr/>
        </p:nvSpPr>
        <p:spPr>
          <a:xfrm>
            <a:off x="685800" y="1577953"/>
            <a:ext cx="10820400" cy="2722626"/>
          </a:xfrm>
          <a:prstGeom prst="roundRect">
            <a:avLst>
              <a:gd name="adj" fmla="val 2015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77953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97003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build — what Vite writes to dist/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027533"/>
            <a:ext cx="10439400" cy="214731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dist/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 index.html                ← small; names the current bundle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 assets/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├── index-C4c61eeb.js     ← the hash changes when the bytes change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└── index-9b73e0aa.css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index.html after the build: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 type="module" src="/assets/index-C4c61eeb.js"&gt;&lt;/script&gt;</a:t>
            </a:r>
            <a:endParaRPr lang="en-US" sz="1425" dirty="0"/>
          </a:p>
        </p:txBody>
      </p:sp>
      <p:sp>
        <p:nvSpPr>
          <p:cNvPr id="11" name="Shape 9"/>
          <p:cNvSpPr/>
          <p:nvPr/>
        </p:nvSpPr>
        <p:spPr>
          <a:xfrm>
            <a:off x="685800" y="4416403"/>
            <a:ext cx="10820400" cy="1234644"/>
          </a:xfrm>
          <a:prstGeom prst="roundRect">
            <a:avLst>
              <a:gd name="adj" fmla="val 370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416403"/>
            <a:ext cx="76200" cy="1234644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530703"/>
            <a:ext cx="10363200" cy="246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4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54" dirty="0"/>
          </a:p>
        </p:txBody>
      </p:sp>
      <p:sp>
        <p:nvSpPr>
          <p:cNvPr id="14" name="Text 12"/>
          <p:cNvSpPr/>
          <p:nvPr/>
        </p:nvSpPr>
        <p:spPr>
          <a:xfrm>
            <a:off x="914400" y="4814929"/>
            <a:ext cx="10363200" cy="6837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1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code → new filename → a URL no cache has ever seen. That is why the files can be cached for a year with nothing to purge, and why </a:t>
            </a:r>
            <a:pPr algn="l" indent="0" marL="0">
              <a:lnSpc>
                <a:spcPct val="102256"/>
              </a:lnSpc>
              <a:buNone/>
            </a:pPr>
            <a:r>
              <a:rPr lang="en-US" sz="171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indent="0" marL="0">
              <a:lnSpc>
                <a:spcPct val="102256"/>
              </a:lnSpc>
              <a:buNone/>
            </a:pPr>
            <a:r>
              <a:rPr lang="en-US" sz="171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cannot.</a:t>
            </a:r>
            <a:endParaRPr lang="en-US" sz="1715" dirty="0"/>
          </a:p>
        </p:txBody>
      </p:sp>
      <p:sp>
        <p:nvSpPr>
          <p:cNvPr id="15" name="Shape 13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Building for production</a:t>
            </a:r>
            <a:endParaRPr lang="en-US" sz="12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619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2 — Express: long-lived assets, a shell that always checks</a:t>
            </a:r>
            <a:endParaRPr lang="en-US" sz="3192" dirty="0"/>
          </a:p>
        </p:txBody>
      </p:sp>
      <p:sp>
        <p:nvSpPr>
          <p:cNvPr id="7" name="Shape 5"/>
          <p:cNvSpPr/>
          <p:nvPr/>
        </p:nvSpPr>
        <p:spPr>
          <a:xfrm>
            <a:off x="685800" y="2063197"/>
            <a:ext cx="10820400" cy="3606653"/>
          </a:xfrm>
          <a:prstGeom prst="roundRect">
            <a:avLst>
              <a:gd name="adj" fmla="val 1521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063197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082247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server.mjs — static files and the SPA shell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512777"/>
            <a:ext cx="10439400" cy="303134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Hashed build output: new bytes get a new URL, so browsers and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CDNs may keep these for a year. A missing asset is a 404.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"/assets"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express.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(distDir,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"assets"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 {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immutable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maxAge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"1y"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fallthrough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}));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→ Cache-Control: public, max-age=31536000, immutable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The shell names the current hashes, so every load checks for a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newer deploy — a cheap 304 Not Modified when nothing changed.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"/{*splat}"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req, res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=&gt;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"Cache-Control"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"no-cache"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sendFile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"index.html"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{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distDir });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4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Express 5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express.static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and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res.sendFile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639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0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3 — one Cache-Control decision per API route</a:t>
            </a:r>
            <a:endParaRPr lang="en-US" sz="3108" dirty="0"/>
          </a:p>
        </p:txBody>
      </p:sp>
      <p:sp>
        <p:nvSpPr>
          <p:cNvPr id="7" name="Shape 5"/>
          <p:cNvSpPr/>
          <p:nvPr/>
        </p:nvSpPr>
        <p:spPr>
          <a:xfrm>
            <a:off x="685800" y="1562897"/>
            <a:ext cx="10820400" cy="4345686"/>
          </a:xfrm>
          <a:prstGeom prst="roundRect">
            <a:avLst>
              <a:gd name="adj" fmla="val 1262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62897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81947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server.mjs — the API routes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012477"/>
            <a:ext cx="10439400" cy="377037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"/api/status"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(req, res) =&gt; {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same for everyone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value, state } 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"status:v1"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 =&gt;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db.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"Cache-Control"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"public, max-age=10"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"X-Cache"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state 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(value);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"/api/incidents"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(req, res) =&gt; {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changes on writes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value, state } 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"incidents:open:v1"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 =&gt;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db.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openIncidents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"Cache-Control"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"no-cache"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"X-Cache"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state 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value 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"/api/me"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req, res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=&gt;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         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one user only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"Cache-Control"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"private, no-store"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… read the session cookie and respond …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4 — cache-aside, with a stampede guard</a:t>
            </a:r>
            <a:endParaRPr lang="en-US" sz="3192" dirty="0"/>
          </a:p>
        </p:txBody>
      </p:sp>
      <p:sp>
        <p:nvSpPr>
          <p:cNvPr id="7" name="Shape 5"/>
          <p:cNvSpPr/>
          <p:nvPr/>
        </p:nvSpPr>
        <p:spPr>
          <a:xfrm>
            <a:off x="685800" y="1577953"/>
            <a:ext cx="10820400" cy="4129278"/>
          </a:xfrm>
          <a:prstGeom prst="roundRect">
            <a:avLst>
              <a:gd name="adj" fmla="val 1329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77953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97003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server.mjs — the cached() helper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027533"/>
            <a:ext cx="10439400" cy="355396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key, ttlSeconds, load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{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hit 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store.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(hit !==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(hit),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"HIT"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};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(!inflight.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(key)) {              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first miss does the work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inflight.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(key, 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() =&gt; {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value 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store.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setEx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(key, ttlSeconds,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stringify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(value));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value;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}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inflight.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}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})());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}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inflight.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(key),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"MISS"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};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Redis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Caching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Node.js client</a:t>
            </a:r>
            <a:endParaRPr lang="en-US" sz="12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2151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9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5 — every write deletes the keys it changed</a:t>
            </a:r>
            <a:endParaRPr lang="en-US" sz="3696" dirty="0"/>
          </a:p>
        </p:txBody>
      </p:sp>
      <p:sp>
        <p:nvSpPr>
          <p:cNvPr id="7" name="Shape 5"/>
          <p:cNvSpPr/>
          <p:nvPr/>
        </p:nvSpPr>
        <p:spPr>
          <a:xfrm>
            <a:off x="685800" y="2230148"/>
            <a:ext cx="10820400" cy="2237872"/>
          </a:xfrm>
          <a:prstGeom prst="roundRect">
            <a:avLst>
              <a:gd name="adj" fmla="val 2452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230148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249198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server.mjs — POST /api/incidents (validation trimmed)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679728"/>
            <a:ext cx="10439400" cy="166256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"/api/incidents"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jsonBody,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(req, res) =&gt; {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… refuse unless writes are enabled; validate title and service …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created =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db.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createIncident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title.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trim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(), service });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([store.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"incidents:open:v1"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 store.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"status:v1"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)]);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`/api/incidents/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${created.id}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(created);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452" dirty="0"/>
          </a:p>
        </p:txBody>
      </p:sp>
      <p:sp>
        <p:nvSpPr>
          <p:cNvPr id="11" name="Shape 9"/>
          <p:cNvSpPr/>
          <p:nvPr/>
        </p:nvSpPr>
        <p:spPr>
          <a:xfrm>
            <a:off x="685800" y="4602133"/>
            <a:ext cx="10820400" cy="1367023"/>
          </a:xfrm>
          <a:prstGeom prst="roundRect">
            <a:avLst>
              <a:gd name="adj" fmla="val 3344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602133"/>
            <a:ext cx="76200" cy="1367023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16433"/>
            <a:ext cx="10363200" cy="284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2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52" dirty="0"/>
          </a:p>
        </p:txBody>
      </p:sp>
      <p:sp>
        <p:nvSpPr>
          <p:cNvPr id="14" name="Text 12"/>
          <p:cNvSpPr/>
          <p:nvPr/>
        </p:nvSpPr>
        <p:spPr>
          <a:xfrm>
            <a:off x="914400" y="5039521"/>
            <a:ext cx="10363200" cy="777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98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read is a </a:t>
            </a:r>
            <a:pPr algn="l" indent="0" marL="0">
              <a:lnSpc>
                <a:spcPct val="102256"/>
              </a:lnSpc>
              <a:buNone/>
            </a:pPr>
            <a:r>
              <a:rPr lang="en-US" sz="198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</a:t>
            </a:r>
            <a:pPr algn="l" indent="0" marL="0">
              <a:lnSpc>
                <a:spcPct val="102256"/>
              </a:lnSpc>
              <a:buNone/>
            </a:pPr>
            <a:r>
              <a:rPr lang="en-US" sz="198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loads fresh data. A new incident changes the status summary too — forgetting a </a:t>
            </a:r>
            <a:pPr algn="l" indent="0" marL="0">
              <a:lnSpc>
                <a:spcPct val="102256"/>
              </a:lnSpc>
              <a:buNone/>
            </a:pPr>
            <a:r>
              <a:rPr lang="en-US" sz="198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dependent key</a:t>
            </a:r>
            <a:pPr algn="l" indent="0" marL="0">
              <a:lnSpc>
                <a:spcPct val="102256"/>
              </a:lnSpc>
              <a:buNone/>
            </a:pPr>
            <a:r>
              <a:rPr lang="en-US" sz="198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the classic bug.</a:t>
            </a:r>
            <a:endParaRPr lang="en-US" sz="198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89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6 — React keeps one shared copy in the tab</a:t>
            </a:r>
            <a:endParaRPr lang="en-US" sz="3276" dirty="0"/>
          </a:p>
        </p:txBody>
      </p:sp>
      <p:sp>
        <p:nvSpPr>
          <p:cNvPr id="7" name="Shape 5"/>
          <p:cNvSpPr/>
          <p:nvPr/>
        </p:nvSpPr>
        <p:spPr>
          <a:xfrm>
            <a:off x="685800" y="1593008"/>
            <a:ext cx="10820400" cy="3705118"/>
          </a:xfrm>
          <a:prstGeom prst="roundRect">
            <a:avLst>
              <a:gd name="adj" fmla="val 1481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93008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612058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StatusBanner.jsx — TanStack Query as the client cache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JSX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042588"/>
            <a:ext cx="10439400" cy="312980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useQuery }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"@tanstack/react-query"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StatusBanner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{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data, isPending } =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useQuery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queryKey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[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"status"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queryFn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 =&gt;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"/api/status"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=&gt;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()),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staleTime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10_000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every component shares one copy for 10 s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});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(isPending)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Checking services…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down = data.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=&gt;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!==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"operational"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{down.length ? `${down.length} degraded` : "All clear"}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4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Query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Caching examples</a:t>
            </a:r>
            <a:endParaRPr lang="en-US" sz="12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876300"/>
            <a:ext cx="2000250" cy="400050"/>
          </a:xfrm>
          <a:prstGeom prst="roundRect">
            <a:avLst>
              <a:gd name="adj" fmla="val 114286"/>
            </a:avLst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876300"/>
            <a:ext cx="20002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2A1F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 LIVE DEMO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428750"/>
            <a:ext cx="10820400" cy="6405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1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Demo: watch the app cache absorb the load</a:t>
            </a:r>
            <a:endParaRPr lang="en-US" sz="3612" dirty="0"/>
          </a:p>
        </p:txBody>
      </p:sp>
      <p:sp>
        <p:nvSpPr>
          <p:cNvPr id="9" name="Shape 7"/>
          <p:cNvSpPr/>
          <p:nvPr/>
        </p:nvSpPr>
        <p:spPr>
          <a:xfrm>
            <a:off x="685800" y="2183583"/>
            <a:ext cx="5238750" cy="3531417"/>
          </a:xfrm>
          <a:prstGeom prst="roundRect">
            <a:avLst>
              <a:gd name="adj" fmla="val 1295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" y="229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THIS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914400" y="2640783"/>
            <a:ext cx="4781550" cy="28596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weeks/week05/samples/react-node-cache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 install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then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 start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2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2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http://127.0.0.1:3000/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2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DevTools → Network, then reload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/api/status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reload twice; read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X-Cache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the time column</a:t>
            </a:r>
            <a:endParaRPr lang="en-US" sz="1824" dirty="0"/>
          </a:p>
        </p:txBody>
      </p:sp>
      <p:sp>
        <p:nvSpPr>
          <p:cNvPr id="12" name="Shape 10"/>
          <p:cNvSpPr/>
          <p:nvPr/>
        </p:nvSpPr>
        <p:spPr>
          <a:xfrm>
            <a:off x="6267450" y="2183583"/>
            <a:ext cx="5238750" cy="1977594"/>
          </a:xfrm>
          <a:prstGeom prst="roundRect">
            <a:avLst>
              <a:gd name="adj" fmla="val 2312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29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6496050" y="2640783"/>
            <a:ext cx="4781550" cy="1392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Asset: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 (memory cache)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reload; shell: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304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or a quick revalidated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/api/status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near 300 ms, then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a few ms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267450" y="4351676"/>
            <a:ext cx="5238750" cy="1363324"/>
          </a:xfrm>
          <a:prstGeom prst="roundRect">
            <a:avLst>
              <a:gd name="adj" fmla="val 3354"/>
            </a:avLst>
          </a:prstGeom>
          <a:solidFill>
            <a:srgbClr val="2C241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7000" y="4465976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IT FAILS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6496050" y="4808876"/>
            <a:ext cx="4781550" cy="7712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</a:t>
            </a:r>
            <a:pPr algn="l" indent="0" marL="0">
              <a:lnSpc>
                <a:spcPct val="102256"/>
              </a:lnSpc>
              <a:buNone/>
            </a:pPr>
            <a:r>
              <a:rPr lang="en-US" sz="196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 test</a:t>
            </a:r>
            <a:pPr algn="l" indent="0" marL="0">
              <a:lnSpc>
                <a:spcPct val="102256"/>
              </a:lnSpc>
              <a:buNone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the sample and read the eight passing test names aloud.</a:t>
            </a:r>
            <a:endParaRPr lang="en-US" sz="1968" dirty="0"/>
          </a:p>
        </p:txBody>
      </p:sp>
      <p:sp>
        <p:nvSpPr>
          <p:cNvPr id="18" name="Shape 1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react-node-cache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README</a:t>
            </a:r>
            <a:endParaRPr lang="en-US" sz="12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874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Service workers: you write the caching strategy yourself</a:t>
            </a:r>
            <a:endParaRPr lang="en-US" sz="3276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91022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40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Strategy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 it for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Cache first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Answer from Cache Storage; network only on a miss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Hashed assets, fonts, the app shell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first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Try the network; fall back to the cache when offline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Pages and API data that should be current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Stale-while-revalidate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Answer from cache now, refresh it in the background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Avatars, non-critical lists, news feeds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only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Never cache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Sign-in, payments, anything personal and live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4283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Cache only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Never touch the network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Files pre-cached at install time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for Developers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Workbox caching strategies</a:t>
            </a:r>
            <a:endParaRPr lang="en-US" sz="12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two hard problems: stale data and stampedes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Throwing copies away</a:t>
            </a:r>
            <a:endParaRPr lang="en-US" sz="1755" dirty="0"/>
          </a:p>
        </p:txBody>
      </p:sp>
      <p:sp>
        <p:nvSpPr>
          <p:cNvPr id="8" name="Text 6"/>
          <p:cNvSpPr/>
          <p:nvPr/>
        </p:nvSpPr>
        <p:spPr>
          <a:xfrm>
            <a:off x="685800" y="2863537"/>
            <a:ext cx="5219700" cy="29919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TTL: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simplest; accept staleness up to N seconds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 on write: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exact, but only where you can reach (Redis, not browsers)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name: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hashed files and versioned keys like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status:v1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Purge: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ask the CDN to forget a URL — slow, and never reaches browsers</a:t>
            </a:r>
            <a:endParaRPr lang="en-US" sz="1872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Surviving a cold cache</a:t>
            </a:r>
            <a:endParaRPr lang="en-US" sz="1755" dirty="0"/>
          </a:p>
        </p:txBody>
      </p:sp>
      <p:sp>
        <p:nvSpPr>
          <p:cNvPr id="10" name="Text 8"/>
          <p:cNvSpPr/>
          <p:nvPr/>
        </p:nvSpPr>
        <p:spPr>
          <a:xfrm>
            <a:off x="6286500" y="2863537"/>
            <a:ext cx="5219700" cy="29919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popular key expires and 1,000 requests miss at once: a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stampede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Coalesce: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one loader per key (the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inflight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map)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 stale while refreshing: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answer with the old copy, update behind it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Jitter TTLs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 a thousand keys do not expire in the same second</a:t>
            </a:r>
            <a:endParaRPr lang="en-US" sz="1872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908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8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header vocabulary, as reference — what each one is for</a:t>
            </a:r>
            <a:endParaRPr lang="en-US" sz="2688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96246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3741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want…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Header / directive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 it talks to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382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Keep a hashed file for a year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public, max-age=31536000, immutable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+ CDN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382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Cache, but check before each reuse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no-cache + an ETag (answer: 304)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+ CDN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5930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Never store it anywhere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no-store (private = this user's browser only)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layer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5930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Different lifetime for shared caches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s-maxage=N (overrides max-age at the CDN)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CDN, proxies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5930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 stale while refreshing or during an outage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stale-while-revalidate, stale-if-error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+ CDN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5930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Add a request header to the cache key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Vary: Accept-Encoding (or a CDN key rule)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+ CDN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 caching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IETF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RFC 9111, HTTP Caching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Week 5 reference</a:t>
            </a:r>
            <a:endParaRPr lang="en-US" sz="127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533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9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 also shrinks the bytes it serves</a:t>
            </a:r>
            <a:endParaRPr lang="en-US" sz="3696" dirty="0"/>
          </a:p>
        </p:txBody>
      </p:sp>
      <p:sp>
        <p:nvSpPr>
          <p:cNvPr id="7" name="Text 5"/>
          <p:cNvSpPr/>
          <p:nvPr/>
        </p:nvSpPr>
        <p:spPr>
          <a:xfrm>
            <a:off x="685800" y="1668286"/>
            <a:ext cx="10820400" cy="38063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Compression: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Brotli or gzip on text (HTML, JS, CSS, JSON) — often 60–80% smaller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browser says what it accepts (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Accept-Encoding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); the server or CDN picks one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Images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are usually the heaviest bytes: AVIF or WebP, sized with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srcset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with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set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CDNs compress and resize images for you at the PoP — it is a setting, not code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HW5 Task 4 asks you to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this on your deployment, not assume it</a:t>
            </a:r>
            <a:endParaRPr lang="en-US" sz="2112" dirty="0"/>
          </a:p>
        </p:txBody>
      </p:sp>
      <p:sp>
        <p:nvSpPr>
          <p:cNvPr id="8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Compression in HTTP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Responsive images</a:t>
            </a:r>
            <a:endParaRPr lang="en-US" sz="127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28750"/>
            <a:ext cx="2667000" cy="400050"/>
          </a:xfrm>
          <a:prstGeom prst="roundRect">
            <a:avLst>
              <a:gd name="adj" fmla="val 114286"/>
            </a:avLst>
          </a:prstGeom>
          <a:solidFill>
            <a:srgbClr val="071320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28750"/>
            <a:ext cx="2667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25" b="1" spc="2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◇  ACTIVE CHECKPOINT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3505200" y="1428750"/>
            <a:ext cx="8001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  ·  Individual (4 min) → compare with a neighbor (2 min) → cold call (4 min)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038350"/>
            <a:ext cx="10820400" cy="111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36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the cache for two CampusPulse features</a:t>
            </a:r>
            <a:endParaRPr lang="en-US" sz="3360" dirty="0"/>
          </a:p>
        </p:txBody>
      </p:sp>
      <p:sp>
        <p:nvSpPr>
          <p:cNvPr id="10" name="Text 8"/>
          <p:cNvSpPr/>
          <p:nvPr/>
        </p:nvSpPr>
        <p:spPr>
          <a:xfrm>
            <a:off x="685800" y="3242798"/>
            <a:ext cx="10820400" cy="1578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1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hours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1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1"/>
            </a:pPr>
            <a:r>
              <a:rPr lang="en-US" sz="192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/api/buildings/hours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1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same for everyone, edited by staff about once a week, read on every page load</a:t>
            </a:r>
            <a:endParaRPr lang="en-US" sz="1920" dirty="0"/>
          </a:p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2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"My reports"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2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2"/>
            </a:pPr>
            <a:r>
              <a:rPr lang="en-US" sz="192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/api/me/reports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2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a signed-in student's own outage reports, updated when they file one</a:t>
            </a:r>
            <a:endParaRPr lang="en-US" sz="1920" dirty="0"/>
          </a:p>
        </p:txBody>
      </p:sp>
      <p:sp>
        <p:nvSpPr>
          <p:cNvPr id="11" name="Text 9"/>
          <p:cNvSpPr/>
          <p:nvPr/>
        </p:nvSpPr>
        <p:spPr>
          <a:xfrm>
            <a:off x="685800" y="4928342"/>
            <a:ext cx="10820400" cy="754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each, name the </a:t>
            </a:r>
            <a:pPr algn="l" indent="0" marL="0">
              <a:lnSpc>
                <a:spcPct val="102256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layer(s)</a:t>
            </a:r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the </a:t>
            </a:r>
            <a:pPr algn="l" indent="0" marL="0">
              <a:lnSpc>
                <a:spcPct val="102256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</a:t>
            </a:r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algn="l" indent="0" marL="0">
              <a:lnSpc>
                <a:spcPct val="102256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is invalidated</a:t>
            </a:r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and </a:t>
            </a:r>
            <a:pPr algn="l" indent="0" marL="0">
              <a:lnSpc>
                <a:spcPct val="102256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line of config</a:t>
            </a:r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(header or code).</a:t>
            </a:r>
            <a:endParaRPr lang="en-US" sz="1920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react-node-cache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sample</a:t>
            </a:r>
            <a:endParaRPr lang="en-US" sz="127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717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11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Block C does with this</a:t>
            </a:r>
            <a:endParaRPr lang="en-US" sz="4116" dirty="0"/>
          </a:p>
        </p:txBody>
      </p:sp>
      <p:sp>
        <p:nvSpPr>
          <p:cNvPr id="7" name="Text 5"/>
          <p:cNvSpPr/>
          <p:nvPr/>
        </p:nvSpPr>
        <p:spPr>
          <a:xfrm>
            <a:off x="685800" y="1743564"/>
            <a:ext cx="10820400" cy="3810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Caching is a performance claim. Block C asks: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did it actually help a person?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Web Vitals (LCP, INP, CLS) and the rendering choice behind them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checks that tools catch and the ones they miss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Logs, metrics, traces, and an SLO — so you know when the cache hides a failure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lab: reproduce the Luis/Maya leak on your laptop, fix it, and measure</a:t>
            </a:r>
            <a:endParaRPr lang="en-US" sz="235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DePaul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Caching technologies, layer by layer — Week 5 Block B</dc:title>
  <dc:subject>Browser, service worker, React data cache, CDN, reverse proxy, Redis, and the database — and one React + Node app that configures four of them</dc:subject>
  <dc:creator>Course staff</dc:creator>
  <cp:lastModifiedBy>Course staff</cp:lastModifiedBy>
  <cp:revision>1</cp:revision>
  <dcterms:created xsi:type="dcterms:W3CDTF">2026-10-04T22:48:20Z</dcterms:created>
  <dcterms:modified xsi:type="dcterms:W3CDTF">2026-10-04T22:48:20Z</dcterms:modified>
</cp:coreProperties>
</file>