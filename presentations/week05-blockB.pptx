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MDN — [Web caching](https://developer.mozilla.org/en-US/docs/Web/HTTP/Guides/Caching)
Cloudflare — [Understanding cache responses](https://developers.cloudflare.com/cache/how-to/understanding-cache-status/)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HTTP/Guides/Caching" TargetMode="External"/><Relationship Id="rId2" Type="http://schemas.openxmlformats.org/officeDocument/2006/relationships/hyperlink" Target="https://developers.cloudflare.com/cache/how-to/understanding-cache-statu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24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Caching without the code tour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77107"/>
            <a:ext cx="9525000" cy="89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what to cache, see what the browser did, and test whether a copy is safe and fresh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 · Block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66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request may meet several copies before the source</a:t>
            </a:r>
            <a:endParaRPr lang="en-US" sz="3864" dirty="0"/>
          </a:p>
        </p:txBody>
      </p:sp>
      <p:sp>
        <p:nvSpPr>
          <p:cNvPr id="7" name="Text 5"/>
          <p:cNvSpPr/>
          <p:nvPr/>
        </p:nvSpPr>
        <p:spPr>
          <a:xfrm>
            <a:off x="685800" y="2285799"/>
            <a:ext cx="10820400" cy="2264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request may stop at the browser, a nearby shared edge, or an application service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copy must be safe for its audience and fresh enough for the feature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browser evidence to tell whether reuse happened and whether it helped</a:t>
            </a:r>
            <a:endParaRPr lang="en-US" sz="2208" dirty="0"/>
          </a:p>
        </p:txBody>
      </p:sp>
      <p:sp>
        <p:nvSpPr>
          <p:cNvPr id="8" name="Shape 6"/>
          <p:cNvSpPr/>
          <p:nvPr/>
        </p:nvSpPr>
        <p:spPr>
          <a:xfrm>
            <a:off x="685800" y="4673145"/>
            <a:ext cx="10820400" cy="1052666"/>
          </a:xfrm>
          <a:prstGeom prst="roundRect">
            <a:avLst>
              <a:gd name="adj" fmla="val 434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73145"/>
            <a:ext cx="76200" cy="105266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87445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1" name="Text 9"/>
          <p:cNvSpPr/>
          <p:nvPr/>
        </p:nvSpPr>
        <p:spPr>
          <a:xfrm>
            <a:off x="914400" y="5123487"/>
            <a:ext cx="10363200" cy="449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trades repeated work for a temporary promise about sameness.</a:t>
            </a:r>
            <a:endParaRPr lang="en-US" sz="207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path a page request can take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77670"/>
            <a:ext cx="10820400" cy="38001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request stops at the first safe, sufficiently fresh copy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copy by asking who it is for</a:t>
            </a:r>
            <a:endParaRPr lang="en-US" sz="3444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3119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207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Typical choice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7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question to debate</a:t>
                      </a:r>
                      <a:endParaRPr lang="en-US" sz="147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Movie poster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edge copy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quickly must a correction appear?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Signed-in watch list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account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 browser or account-aware service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Could another account ever receive it?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service status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Short-lived shared copy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stale is acceptable during an outage?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 page shell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Shared, versioned files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does a new release replace old files?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11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Available seats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Everyone, but changing quickly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brief or no shared copy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99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Could a stale answer cause a bad booking?</a:t>
                      </a:r>
                      <a:endParaRPr lang="en-US" sz="1599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Browser test 1: did the page reuse its own files?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2230148"/>
            <a:ext cx="10820400" cy="2237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browser's 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panel and reload a page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again; compare images, styles, and scripts with the first visit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for “memory cache,” “disk cache,” “not modified,” or a much smaller transfer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resource and inspect its response headers for its freshness policy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584728"/>
            <a:ext cx="10820400" cy="1367023"/>
          </a:xfrm>
          <a:prstGeom prst="roundRect">
            <a:avLst>
              <a:gd name="adj" fmla="val 334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84728"/>
            <a:ext cx="76200" cy="136702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99028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5022116"/>
            <a:ext cx="10363200" cy="777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evidence is a changed source of the response or fewer bytes—not just a page that feels fast.</a:t>
            </a:r>
            <a:endParaRPr lang="en-US" sz="19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Browser test 2: compare a first visit with a repeat visit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visit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909171"/>
            <a:ext cx="5219700" cy="2988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page in a fresh private window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Network panel open and reload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which large images and files cross the network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the response size and time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visit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909171"/>
            <a:ext cx="5219700" cy="2988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the same page in the same window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the same files and headers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after clearing only that site's stored data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which copy answered each request</a:t>
            </a:r>
            <a:endParaRPr lang="en-US" sz="211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Browser test 3: look for shared-edge evidence</a:t>
            </a:r>
            <a:endParaRPr lang="en-US" sz="3780" dirty="0"/>
          </a:p>
        </p:txBody>
      </p:sp>
      <p:sp>
        <p:nvSpPr>
          <p:cNvPr id="7" name="Text 5"/>
          <p:cNvSpPr/>
          <p:nvPr/>
        </p:nvSpPr>
        <p:spPr>
          <a:xfrm>
            <a:off x="685800" y="2257974"/>
            <a:ext cx="10820400" cy="3122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large public image, poster, or media segment in the Network panel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response headers for cache age, cache status, and the declared lifetime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several times; compare response time and transfer size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available, compare the same public resource from another network or region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a missing cache header as “unknown,” not proof that no cache exists</a:t>
            </a:r>
            <a:endParaRPr lang="en-US" sz="2160" dirty="0"/>
          </a:p>
        </p:txBody>
      </p:sp>
      <p:sp>
        <p:nvSpPr>
          <p:cNvPr id="8" name="Shape 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caching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cache responses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87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 that a copy is fresh enough—and belongs to the right person</a:t>
            </a:r>
            <a:endParaRPr lang="en-US" sz="3276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91022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students do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a good result means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Freshness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 a public title or image, then reload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new version appears within the promised window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Personalization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 in as account A, then account B in a separate profile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Neither account sees the other's name, list, or history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Shared-device safety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 out, then revisit the previous account's page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Private data is not left visible to the next person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Offline behavior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Disconnect after opening a page, then revisit 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app clearly distinguishes saved content from current data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 reset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Clear that site's stored data, then repeat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team can reproduce a true first visit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product examples: same idea, different copy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Streaming catalog</a:t>
            </a:r>
            <a:endParaRPr lang="en-US" sz="1710" dirty="0"/>
          </a:p>
        </p:txBody>
      </p:sp>
      <p:sp>
        <p:nvSpPr>
          <p:cNvPr id="8" name="Text 6"/>
          <p:cNvSpPr/>
          <p:nvPr/>
        </p:nvSpPr>
        <p:spPr>
          <a:xfrm>
            <a:off x="685800" y="2854410"/>
            <a:ext cx="5219700" cy="2917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Posters, artwork, and public title details are reused by many viewers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Nearby shared copies reduce delay and origin traffic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corrected rating or artwork must eventually replace the old copy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account's watch progress stays personal</a:t>
            </a:r>
            <a:endParaRPr lang="en-US" sz="1824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Collaboration app</a:t>
            </a:r>
            <a:endParaRPr lang="en-US" sz="1710" dirty="0"/>
          </a:p>
        </p:txBody>
      </p:sp>
      <p:sp>
        <p:nvSpPr>
          <p:cNvPr id="10" name="Text 8"/>
          <p:cNvSpPr/>
          <p:nvPr/>
        </p:nvSpPr>
        <p:spPr>
          <a:xfrm>
            <a:off x="6286500" y="2854410"/>
            <a:ext cx="5219700" cy="2917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files, help pages, and public profile images are reusable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membership and a participant's private messages are not public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audio and video must arrive now, not from an old saved copy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brief interruption is different from stale playback</a:t>
            </a:r>
            <a:endParaRPr lang="en-US" sz="182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76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Diagnose a slow page without reading its code</a:t>
            </a:r>
            <a:endParaRPr lang="en-US" sz="3192" dirty="0"/>
          </a:p>
        </p:txBody>
      </p:sp>
      <p:sp>
        <p:nvSpPr>
          <p:cNvPr id="7" name="Text 5"/>
          <p:cNvSpPr/>
          <p:nvPr/>
        </p:nvSpPr>
        <p:spPr>
          <a:xfrm>
            <a:off x="685800" y="1577953"/>
            <a:ext cx="10820400" cy="29754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transfer, first visit: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investigate image size, resolution, and delivery distance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download on every visit: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ask whether the file has a reusable lifetime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but outdated result: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shorten the freshness window or improve version replacement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account sees another's data: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remove shared reuse and investigate account boundaries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warm edge still loads slowly: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look beyond caching; the server, page, or connection may be the bottleneck</a:t>
            </a:r>
            <a:endParaRPr lang="en-US" sz="1824" dirty="0"/>
          </a:p>
        </p:txBody>
      </p:sp>
      <p:sp>
        <p:nvSpPr>
          <p:cNvPr id="8" name="Shape 6"/>
          <p:cNvSpPr/>
          <p:nvPr/>
        </p:nvSpPr>
        <p:spPr>
          <a:xfrm>
            <a:off x="685800" y="4654756"/>
            <a:ext cx="10820400" cy="938505"/>
          </a:xfrm>
          <a:prstGeom prst="roundRect">
            <a:avLst>
              <a:gd name="adj" fmla="val 487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54756"/>
            <a:ext cx="76200" cy="93850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69056"/>
            <a:ext cx="10363200" cy="24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4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54" dirty="0"/>
          </a:p>
        </p:txBody>
      </p:sp>
      <p:sp>
        <p:nvSpPr>
          <p:cNvPr id="11" name="Text 9"/>
          <p:cNvSpPr/>
          <p:nvPr/>
        </p:nvSpPr>
        <p:spPr>
          <a:xfrm>
            <a:off x="914400" y="5053282"/>
            <a:ext cx="10363200" cy="3875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cache is one part of the path. It cannot make every kind of delay disappear.</a:t>
            </a:r>
            <a:endParaRPr lang="en-US" sz="171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min  ·  Small groups (3 min) → compare answers (2 min) → debrief (1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the cache plan for three features</a:t>
            </a:r>
            <a:endParaRPr lang="en-US" sz="3696" dirty="0"/>
          </a:p>
        </p:txBody>
      </p:sp>
      <p:sp>
        <p:nvSpPr>
          <p:cNvPr id="10" name="Text 8"/>
          <p:cNvSpPr/>
          <p:nvPr/>
        </p:nvSpPr>
        <p:spPr>
          <a:xfrm>
            <a:off x="685800" y="2792236"/>
            <a:ext cx="10820400" cy="2170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New-release posters: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shared by viewers; may be corrected by the studio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continue-watching row: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unique to the signed-in account; changes during viewing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live event schedule:</a:t>
            </a:r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public; organizers may revise it shortly before the event</a:t>
            </a:r>
            <a:endParaRPr lang="en-US" sz="2112" dirty="0"/>
          </a:p>
        </p:txBody>
      </p:sp>
      <p:sp>
        <p:nvSpPr>
          <p:cNvPr id="11" name="Text 9"/>
          <p:cNvSpPr/>
          <p:nvPr/>
        </p:nvSpPr>
        <p:spPr>
          <a:xfrm>
            <a:off x="685800" y="5079760"/>
            <a:ext cx="10820400" cy="821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each, choose </a:t>
            </a:r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 copy may live</a:t>
            </a:r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quickly it must update</a:t>
            </a:r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browser observation</a:t>
            </a:r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would help you verify the experience.</a:t>
            </a:r>
            <a:endParaRPr lang="en-US" sz="211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W05·B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Caching in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practical rule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shared, repeatable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content close to viewers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</a:t>
            </a:r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content isolated to the correct account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changing content a freshness promise the product can keep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browser evidence to test reuse, freshness, and privacy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3995090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995090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09390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471340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two products with video—and why their architectures need different answers.</a:t>
            </a:r>
            <a:endParaRPr lang="en-US" sz="22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Caching without the code tour — Week 5 Block B</dc:title>
  <dc:subject>Choose what to cache, see what the browser did, and test whether a copy is safe and fresh</dc:subject>
  <dc:creator>Course staff</dc:creator>
  <cp:lastModifiedBy>Course staff</cp:lastModifiedBy>
  <cp:revision>1</cp:revision>
  <dcterms:created xsi:type="dcterms:W3CDTF">2026-10-11T16:00:54Z</dcterms:created>
  <dcterms:modified xsi:type="dcterms:W3CDTF">2026-10-11T16:00:54Z</dcterms:modified>
</cp:coreProperties>
</file>