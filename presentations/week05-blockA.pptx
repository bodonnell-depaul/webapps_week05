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Cloudflare — [Global network](https://www.cloudflare.com/network/)
Amazon — [What is Amazon CloudFront?](https://docs.aws.amazon.com/AmazonCloudFront/latest/DeveloperGuide/Introduction.html)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Cloudflare — [Global network](https://www.cloudflare.com/network/)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Netflix — [How Netflix works with ISPs around the globe](https://about.netflix.com/en/news/how-netflix-works-with-isps-around-the-globe-to-deliver-a-great-viewing-experience)
Netflix — [Open Connect overview (PDF)](https://openconnect.netflix.com/Open-Connect-Overview.pdf)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Apple Developer — [HTTP Live Streaming](https://developer.apple.com/documentation/http-live-streaming)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Netflix — [Open Connect appliances](https://openconnect.netflix.com/en/appliances/)
Netflix — [Open Connect peering](https://openconnect.netflix.com/en/peering/)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Netflix — [How Netflix works with ISPs around the globe](https://about.netflix.com/en/news/how-netflix-works-with-isps-around-the-globe-to-deliver-a-great-viewing-experience)
Netflix — [Open Connect](https://openconnect.netflix.com/en/)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
Streaming Media — [Disney Streaming on multi-CDN load balancing](https://www.streamingmedia.com/Articles/ReadArticle.aspx?ArticleID=145721)
Streaming Media — [Disney Streaming on QoE metrics](https://www.streamingmedia.com/Articles/ReadArticle.aspx?ArticleID=150246)
TechCrunch — [How WBD made Max less buggy (2023)](https://techcrunch.com/2023/05/05/warner-bros-discovery-cto-and-cpo-explain-how-they-made-max-less-buggy/)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loudflare.com/network/" TargetMode="External"/><Relationship Id="rId2" Type="http://schemas.openxmlformats.org/officeDocument/2006/relationships/hyperlink" Target="https://docs.aws.amazon.com/AmazonCloudFront/latest/DeveloperGuide/Introduction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loudflare.com/network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bout.netflix.com/en/news/how-netflix-works-with-isps-around-the-globe-to-deliver-a-great-viewing-experience" TargetMode="External"/><Relationship Id="rId4" Type="http://schemas.openxmlformats.org/officeDocument/2006/relationships/hyperlink" Target="https://openconnect.netflix.com/Open-Connect-Overview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apple.com/documentation/http-live-stream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nnect.netflix.com/en/appliances/" TargetMode="External"/><Relationship Id="rId4" Type="http://schemas.openxmlformats.org/officeDocument/2006/relationships/hyperlink" Target="https://openconnect.netflix.com/en/peering/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about.netflix.com/en/news/how-netflix-works-with-isps-around-the-globe-to-deliver-a-great-viewing-experience" TargetMode="External"/><Relationship Id="rId2" Type="http://schemas.openxmlformats.org/officeDocument/2006/relationships/hyperlink" Target="https://openconnect.netflix.com/en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reamingmedia.com/Articles/ReadArticle.aspx?ArticleID=145721" TargetMode="External"/><Relationship Id="rId2" Type="http://schemas.openxmlformats.org/officeDocument/2006/relationships/hyperlink" Target="https://www.streamingmedia.com/Articles/ReadArticle.aspx?ArticleID=150246" TargetMode="External"/><Relationship Id="rId3" Type="http://schemas.openxmlformats.org/officeDocument/2006/relationships/hyperlink" Target="https://techcrunch.com/2023/05/05/warner-bros-discovery-cto-and-cpo-explain-how-they-made-max-less-buggy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Short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67640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038350"/>
            <a:ext cx="10287000" cy="18244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57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world gets its bytes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85800" y="3977107"/>
            <a:ext cx="9525000" cy="8996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3985"/>
              </a:lnSpc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Points of presence, edge caches, and how Netflix, Disney+, and Max put video one hop from your living room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4991100"/>
            <a:ext cx="205740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991100"/>
            <a:ext cx="2057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5 · Block 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857500" y="4991100"/>
            <a:ext cx="14287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57500" y="4991100"/>
            <a:ext cx="1428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minutes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0550" y="4991100"/>
            <a:ext cx="22669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00550" y="4991100"/>
            <a:ext cx="22669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Updated 2026-10-04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Short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HW4 site lives in one place. Your users do not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HW4 gave you</a:t>
            </a:r>
            <a:endParaRPr lang="en-US" sz="2160" dirty="0"/>
          </a:p>
        </p:txBody>
      </p:sp>
      <p:sp>
        <p:nvSpPr>
          <p:cNvPr id="8" name="Text 6"/>
          <p:cNvSpPr/>
          <p:nvPr/>
        </p:nvSpPr>
        <p:spPr>
          <a:xfrm>
            <a:off x="685800" y="2945679"/>
            <a:ext cx="5219700" cy="2768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own domain, live, over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pipeline that deploys and can roll back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container answering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/healthz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in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region</a:t>
            </a:r>
            <a:endParaRPr lang="en-US" sz="2304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today adds</a:t>
            </a:r>
            <a:endParaRPr lang="en-US" sz="2160" dirty="0"/>
          </a:p>
        </p:txBody>
      </p:sp>
      <p:sp>
        <p:nvSpPr>
          <p:cNvPr id="10" name="Text 8"/>
          <p:cNvSpPr/>
          <p:nvPr/>
        </p:nvSpPr>
        <p:spPr>
          <a:xfrm>
            <a:off x="6286500" y="2945679"/>
            <a:ext cx="5219700" cy="2768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layer of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copies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between your users and that one container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Those copies live in hundreds of buildings, near people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Deciding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may be copied is a design job — and a security one</a:t>
            </a:r>
            <a:endParaRPr lang="en-US" sz="230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Prelecture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11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36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 debrief: what the readings should have left you with</a:t>
            </a:r>
            <a:endParaRPr lang="en-US" sz="3360" dirty="0"/>
          </a:p>
        </p:txBody>
      </p:sp>
      <p:sp>
        <p:nvSpPr>
          <p:cNvPr id="7" name="Text 5"/>
          <p:cNvSpPr/>
          <p:nvPr/>
        </p:nvSpPr>
        <p:spPr>
          <a:xfrm>
            <a:off x="685800" y="2118848"/>
            <a:ext cx="10820400" cy="2383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CDN is a fleet of caching servers in many cities; a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one of those sites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Netflix's Open Connect places its own servers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inside ISP networks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free to the ISP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— hands up first: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no-cache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mean "do not cache"? No. It means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before reuse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three Core Web Vitals are LCP, INP, CLS —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 replaced FID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March 2024</a:t>
            </a:r>
            <a:endParaRPr lang="en-US" sz="1920" dirty="0"/>
          </a:p>
        </p:txBody>
      </p:sp>
      <p:sp>
        <p:nvSpPr>
          <p:cNvPr id="8" name="Shape 6"/>
          <p:cNvSpPr/>
          <p:nvPr/>
        </p:nvSpPr>
        <p:spPr>
          <a:xfrm>
            <a:off x="685800" y="4609064"/>
            <a:ext cx="10820400" cy="1278770"/>
          </a:xfrm>
          <a:prstGeom prst="roundRect">
            <a:avLst>
              <a:gd name="adj" fmla="val 3575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09064"/>
            <a:ext cx="76200" cy="127877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23364"/>
            <a:ext cx="10363200" cy="259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914400" y="5020544"/>
            <a:ext cx="10363200" cy="714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0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prep gave you vocabulary. Class time gives you the map: where copies live, who owns them, and what goes wrong when the wrong thing is copied.</a:t>
            </a:r>
            <a:endParaRPr lang="en-US" sz="180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Weekly logistics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today runs, and what you need on hand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1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1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180 minutes</a:t>
            </a:r>
            <a:endParaRPr lang="en-US" sz="2115" dirty="0"/>
          </a:p>
        </p:txBody>
      </p:sp>
      <p:sp>
        <p:nvSpPr>
          <p:cNvPr id="8" name="Text 6"/>
          <p:cNvSpPr/>
          <p:nvPr/>
        </p:nvSpPr>
        <p:spPr>
          <a:xfrm>
            <a:off x="685800" y="2936552"/>
            <a:ext cx="5219700" cy="28562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A (30)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 (30)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(10)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hard stop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C (25)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lab (35), then the HW5 brief and exit ticket</a:t>
            </a:r>
            <a:endParaRPr lang="en-US" sz="2256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1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1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ready, right now</a:t>
            </a:r>
            <a:endParaRPr lang="en-US" sz="2115" dirty="0"/>
          </a:p>
        </p:txBody>
      </p:sp>
      <p:sp>
        <p:nvSpPr>
          <p:cNvPr id="10" name="Text 8"/>
          <p:cNvSpPr/>
          <p:nvPr/>
        </p:nvSpPr>
        <p:spPr>
          <a:xfrm>
            <a:off x="6286500" y="2936552"/>
            <a:ext cx="5219700" cy="2713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browser — the first demo is in about eight minutes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24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this week's 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Block B and the lab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HW4 deployment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 free CDN account for the homework</a:t>
            </a:r>
            <a:endParaRPr lang="en-US" sz="225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problems no amount of server tuning fixes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09855"/>
          </a:xfrm>
          <a:prstGeom prst="roundRect">
            <a:avLst>
              <a:gd name="adj" fmla="val 4527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09855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785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19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19" dirty="0"/>
          </a:p>
        </p:txBody>
      </p:sp>
      <p:sp>
        <p:nvSpPr>
          <p:cNvPr id="10" name="Text 8"/>
          <p:cNvSpPr/>
          <p:nvPr/>
        </p:nvSpPr>
        <p:spPr>
          <a:xfrm>
            <a:off x="914400" y="2847061"/>
            <a:ext cx="10363200" cy="42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4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both: </a:t>
            </a:r>
            <a:pPr algn="l" indent="0" marL="0">
              <a:lnSpc>
                <a:spcPct val="102256"/>
              </a:lnSpc>
              <a:buNone/>
            </a:pPr>
            <a:r>
              <a:rPr lang="en-US" sz="194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copies of popular bytes close to the people asking.</a:t>
            </a:r>
            <a:pPr algn="l" indent="0" marL="0">
              <a:lnSpc>
                <a:spcPct val="102256"/>
              </a:lnSpc>
              <a:buNone/>
            </a:pPr>
            <a:r>
              <a:rPr lang="en-US" sz="194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That is a CDN.</a:t>
            </a:r>
            <a:endParaRPr lang="en-US" sz="1940" dirty="0"/>
          </a:p>
        </p:txBody>
      </p:sp>
      <p:sp>
        <p:nvSpPr>
          <p:cNvPr id="11" name="Text 9"/>
          <p:cNvSpPr/>
          <p:nvPr/>
        </p:nvSpPr>
        <p:spPr>
          <a:xfrm>
            <a:off x="685800" y="3595169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Distance</a:t>
            </a:r>
            <a:endParaRPr lang="en-US" sz="1755" dirty="0"/>
          </a:p>
        </p:txBody>
      </p:sp>
      <p:sp>
        <p:nvSpPr>
          <p:cNvPr id="12" name="Text 10"/>
          <p:cNvSpPr/>
          <p:nvPr/>
        </p:nvSpPr>
        <p:spPr>
          <a:xfrm>
            <a:off x="685800" y="4042556"/>
            <a:ext cx="5219700" cy="16011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 in fiber: about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 km/s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Sydney ↔ Virginia: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160 ms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round trip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page load needs several round trips</a:t>
            </a:r>
            <a:endParaRPr lang="en-US" sz="1872" dirty="0"/>
          </a:p>
        </p:txBody>
      </p:sp>
      <p:sp>
        <p:nvSpPr>
          <p:cNvPr id="13" name="Text 11"/>
          <p:cNvSpPr/>
          <p:nvPr/>
        </p:nvSpPr>
        <p:spPr>
          <a:xfrm>
            <a:off x="6286500" y="3595169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Crowds</a:t>
            </a:r>
            <a:endParaRPr lang="en-US" sz="1755" dirty="0"/>
          </a:p>
        </p:txBody>
      </p:sp>
      <p:sp>
        <p:nvSpPr>
          <p:cNvPr id="14" name="Text 12"/>
          <p:cNvSpPr/>
          <p:nvPr/>
        </p:nvSpPr>
        <p:spPr>
          <a:xfrm>
            <a:off x="6286500" y="4042556"/>
            <a:ext cx="5219700" cy="1933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p.m. premiere: millions press play at once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origin has one set of network links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 requests for the same bytes waste work</a:t>
            </a:r>
            <a:endParaRPr lang="en-US" sz="187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CDN puts a copy one short hop from each user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31616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577840"/>
            <a:ext cx="10820400" cy="403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CDN every request crosses the ocean. With one, only cache misses do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53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your request finds the nearest PoP</a:t>
            </a:r>
            <a:endParaRPr lang="en-US" sz="3696" dirty="0"/>
          </a:p>
        </p:txBody>
      </p:sp>
      <p:sp>
        <p:nvSpPr>
          <p:cNvPr id="7" name="Text 5"/>
          <p:cNvSpPr/>
          <p:nvPr/>
        </p:nvSpPr>
        <p:spPr>
          <a:xfrm>
            <a:off x="685800" y="1668286"/>
            <a:ext cx="10820400" cy="38733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of presence (PoP)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a rack of servers in a building where many networks meet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 CDNs run hundreds of PoPs; Cloudflare lists data centers in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330+ cities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Anycast: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PoP announces the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IP address; internet routing delivers you to a nearby one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steering: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CDN's DNS answers with the address of a PoP chosen for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PoP has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own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cache — "it's cached" is never a global statement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miss, PoPs often ask a regional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shield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cache first, so the origin sees one request, not hundreds</a:t>
            </a:r>
            <a:endParaRPr lang="en-US" sz="2112" dirty="0"/>
          </a:p>
        </p:txBody>
      </p:sp>
      <p:sp>
        <p:nvSpPr>
          <p:cNvPr id="8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network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Amazon CloudFront?</a:t>
            </a:r>
            <a:endParaRPr lang="en-US" sz="12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640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which PoP is serving you right now?</a:t>
            </a:r>
            <a:endParaRPr lang="en-US" sz="3612" dirty="0"/>
          </a:p>
        </p:txBody>
      </p:sp>
      <p:sp>
        <p:nvSpPr>
          <p:cNvPr id="9" name="Shape 7"/>
          <p:cNvSpPr/>
          <p:nvPr/>
        </p:nvSpPr>
        <p:spPr>
          <a:xfrm>
            <a:off x="685800" y="2183583"/>
            <a:ext cx="5238750" cy="3531417"/>
          </a:xfrm>
          <a:prstGeom prst="roundRect">
            <a:avLst>
              <a:gd name="adj" fmla="val 1295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640783"/>
            <a:ext cx="4781550" cy="27282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https://www.cloudflare.com/cdn-cgi/trace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any browser</a:t>
            </a:r>
            <a:endParaRPr lang="en-US" sz="1968" dirty="0"/>
          </a:p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the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colo=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line — an airport code (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Chicago O'Hare)</a:t>
            </a:r>
            <a:endParaRPr lang="en-US" sz="1968" dirty="0"/>
          </a:p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on your phone with Wi-Fi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then compare with a neighbor</a:t>
            </a:r>
            <a:endParaRPr lang="en-US" sz="1968" dirty="0"/>
          </a:p>
        </p:txBody>
      </p:sp>
      <p:sp>
        <p:nvSpPr>
          <p:cNvPr id="12" name="Shape 10"/>
          <p:cNvSpPr/>
          <p:nvPr/>
        </p:nvSpPr>
        <p:spPr>
          <a:xfrm>
            <a:off x="6267450" y="2183583"/>
            <a:ext cx="5238750" cy="1977594"/>
          </a:xfrm>
          <a:prstGeom prst="roundRect">
            <a:avLst>
              <a:gd name="adj" fmla="val 231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640783"/>
            <a:ext cx="4781550" cy="1392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Laptops on campus Wi-Fi show the same code; a phone on cellular may differ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ip=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shows the address the PoP saw;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http=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shows the HTTP version used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267450" y="4351676"/>
            <a:ext cx="5238750" cy="1363324"/>
          </a:xfrm>
          <a:prstGeom prst="roundRect">
            <a:avLst>
              <a:gd name="adj" fmla="val 3354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65976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808876"/>
            <a:ext cx="4781550" cy="738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captured trace in the speaker notes aloud and point at </a:t>
            </a:r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colo=</a:t>
            </a:r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872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network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modern edge does far more than store files</a:t>
            </a:r>
            <a:endParaRPr lang="en-US" sz="3276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93008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0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Edge service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 for you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Where you meet it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Static caching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Serves JS, CSS, images, video segments from the PoP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CDN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micro-caching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Shares a public JSON answer for a few seconds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 B's /api/status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TLS termination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Finishes the HTTPS handshake near the user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HW4's certificate, now at the edge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Compression and images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Brotli/gzip, resizing, modern image formats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 B, HW5 Task 4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DDoS absorption, WAF rules, bot filtering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 8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283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Edge functions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Small programs that run in the PoP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Cloudflare Workers, Lambda@Edge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largest CDN workloads on earth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streaming reaches the world</a:t>
            </a:r>
            <a:endParaRPr lang="en-US" sz="4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systems: the app you browse, and the pipe that plays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6206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0368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everything before you press play runs in the cloud; everything after comes from Open Connect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Netflix works with ISPs around the globe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overview (PDF)</a:t>
            </a:r>
            <a:endParaRPr lang="en-US" sz="12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movie is thousands of small, cacheable files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38396"/>
          </a:xfrm>
          <a:prstGeom prst="roundRect">
            <a:avLst>
              <a:gd name="adj" fmla="val 44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3839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0" name="Text 8"/>
          <p:cNvSpPr/>
          <p:nvPr/>
        </p:nvSpPr>
        <p:spPr>
          <a:xfrm>
            <a:off x="914400" y="2860015"/>
            <a:ext cx="10363200" cy="442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becomes ordinary HTTP requests for files that never change.</a:t>
            </a:r>
            <a:endParaRPr lang="en-US" sz="2030" dirty="0"/>
          </a:p>
        </p:txBody>
      </p:sp>
      <p:sp>
        <p:nvSpPr>
          <p:cNvPr id="11" name="Text 9"/>
          <p:cNvSpPr/>
          <p:nvPr/>
        </p:nvSpPr>
        <p:spPr>
          <a:xfrm>
            <a:off x="685800" y="3629805"/>
            <a:ext cx="5219700" cy="317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8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Encode once, many ways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85800" y="4022432"/>
            <a:ext cx="5219700" cy="1087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ladder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versions: 240p up to 4K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cut into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a few seconds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(HLS or DASH) lists the URLs</a:t>
            </a:r>
            <a:endParaRPr lang="en-US" sz="1584" dirty="0"/>
          </a:p>
        </p:txBody>
      </p:sp>
      <p:sp>
        <p:nvSpPr>
          <p:cNvPr id="13" name="Text 11"/>
          <p:cNvSpPr/>
          <p:nvPr/>
        </p:nvSpPr>
        <p:spPr>
          <a:xfrm>
            <a:off x="6286500" y="3629805"/>
            <a:ext cx="5219700" cy="317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8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adaptively</a:t>
            </a:r>
            <a:endParaRPr lang="en-US" sz="1485" dirty="0"/>
          </a:p>
        </p:txBody>
      </p:sp>
      <p:sp>
        <p:nvSpPr>
          <p:cNvPr id="14" name="Text 12"/>
          <p:cNvSpPr/>
          <p:nvPr/>
        </p:nvSpPr>
        <p:spPr>
          <a:xfrm>
            <a:off x="6286500" y="4022432"/>
            <a:ext cx="5219700" cy="1650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 reads the manifest, then fetches segments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bitrate: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slow network → lower rung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never change: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static, shareable files</a:t>
            </a:r>
            <a:endParaRPr lang="en-US" sz="1584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Developer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Live Streaming</a:t>
            </a:r>
            <a:endParaRPr lang="en-US" sz="12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Netflix Open Connect: the "last mile" is the point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8949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311140"/>
            <a:ext cx="10820400" cy="403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Connect fills appliances off-peak, so the evening rush is served from inside your ISP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appliances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peering</a:t>
            </a:r>
            <a:endParaRPr lang="en-US" sz="12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38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4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Netflix built its own CDN instead of renting one</a:t>
            </a:r>
            <a:endParaRPr lang="en-US" sz="2940" dirty="0"/>
          </a:p>
        </p:txBody>
      </p:sp>
      <p:sp>
        <p:nvSpPr>
          <p:cNvPr id="7" name="Text 5"/>
          <p:cNvSpPr/>
          <p:nvPr/>
        </p:nvSpPr>
        <p:spPr>
          <a:xfrm>
            <a:off x="685800" y="1532786"/>
            <a:ext cx="10820400" cy="27477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Open Connect has carried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Netflix video since it launched (built 2011, announced 2012)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Placement: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close to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that traffic flows over direct connections to residential ISPs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boxes: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qualifying ISPs get appliances at no charge — and stop paying to haul Netflix over transit links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Predictability: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known catalog can be pushed off-peak; a general CDN can only react to requests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Specialization: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per-server throughput grew from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Gbps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(2012) to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90 Gbps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(2016)</a:t>
            </a:r>
            <a:endParaRPr lang="en-US" sz="1680" dirty="0"/>
          </a:p>
        </p:txBody>
      </p:sp>
      <p:sp>
        <p:nvSpPr>
          <p:cNvPr id="8" name="Shape 6"/>
          <p:cNvSpPr/>
          <p:nvPr/>
        </p:nvSpPr>
        <p:spPr>
          <a:xfrm>
            <a:off x="685800" y="4373903"/>
            <a:ext cx="10820400" cy="1168454"/>
          </a:xfrm>
          <a:prstGeom prst="roundRect">
            <a:avLst>
              <a:gd name="adj" fmla="val 391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373903"/>
            <a:ext cx="76200" cy="116845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488203"/>
            <a:ext cx="10363200" cy="226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752998"/>
            <a:ext cx="10363200" cy="6369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7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Netflix's CDN is a partnership with ISPs, not just hardware. Both sides save money, and viewers get a stream that starts one hop from home.</a:t>
            </a:r>
            <a:endParaRPr lang="en-US" sz="1579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Netflix works with ISPs around the globe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</a:t>
            </a:r>
            <a:endParaRPr lang="en-US" sz="12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platforms, three delivery strategies</a:t>
            </a:r>
            <a:endParaRPr lang="en-US" sz="3192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77953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6335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Netflix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Disney+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Max (Warner Bros. Discovery)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 delivery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 CDN: Open Connect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Several CDN partners, incl. on-net caches in ISPs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Four commercial CDNs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or buy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its own appliances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Rents several; builds its own load balancer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Rents: CloudFront, Google Cloud CDN, Akamai, Fastly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a CDN is picked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Netflix steers to its own servers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Partners scored on rebuffering, start time, failures, bitrate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Multi-CDN for resilience at more than an exabyte a month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720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AWS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Streaming platform built from BAMTech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AWS as primary cloud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Media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Disney Streaming on multi-CDN load balancing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Media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Disney Streaming on QoE metrics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TechCrunch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WBD made Max less buggy (2023)</a:t>
            </a:r>
            <a:endParaRPr lang="en-US" sz="12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events break the "copy it in advance" trick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live is hard</a:t>
            </a:r>
            <a:endParaRPr lang="en-US" sz="1755" dirty="0"/>
          </a:p>
        </p:txBody>
      </p:sp>
      <p:sp>
        <p:nvSpPr>
          <p:cNvPr id="8" name="Text 6"/>
          <p:cNvSpPr/>
          <p:nvPr/>
        </p:nvSpPr>
        <p:spPr>
          <a:xfrm>
            <a:off x="685800" y="2863537"/>
            <a:ext cx="5219700" cy="2266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for a live game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 not exist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few seconds ago — nothing to pre-fill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viewer wants the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new segment within the same second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miss at 300 PoPs at once could become 300 requests to the origin</a:t>
            </a:r>
            <a:endParaRPr lang="en-US" sz="1872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industry does</a:t>
            </a:r>
            <a:endParaRPr lang="en-US" sz="1755" dirty="0"/>
          </a:p>
        </p:txBody>
      </p:sp>
      <p:sp>
        <p:nvSpPr>
          <p:cNvPr id="10" name="Text 8"/>
          <p:cNvSpPr/>
          <p:nvPr/>
        </p:nvSpPr>
        <p:spPr>
          <a:xfrm>
            <a:off x="62865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collapsing: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PoP sends one origin fetch per segment, the rest wait for it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Shield tiers: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PoPs ask a regional cache, not the origin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manifest TTLs, long segment TTLs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Multi-CDN failover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capacity booked in advance</a:t>
            </a:r>
            <a:endParaRPr lang="en-US" sz="1872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Fictional CampusPulse case: what must never be shared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38396"/>
          </a:xfrm>
          <a:prstGeom prst="roundRect">
            <a:avLst>
              <a:gd name="adj" fmla="val 44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3839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0" name="Text 8"/>
          <p:cNvSpPr/>
          <p:nvPr/>
        </p:nvSpPr>
        <p:spPr>
          <a:xfrm>
            <a:off x="914400" y="2860015"/>
            <a:ext cx="10363200" cy="442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 video segment everywhere; never share a "continue watching" row.</a:t>
            </a:r>
            <a:endParaRPr lang="en-US" sz="2030" dirty="0"/>
          </a:p>
        </p:txBody>
      </p:sp>
      <p:sp>
        <p:nvSpPr>
          <p:cNvPr id="11" name="Text 9"/>
          <p:cNvSpPr/>
          <p:nvPr/>
        </p:nvSpPr>
        <p:spPr>
          <a:xfrm>
            <a:off x="685800" y="3629805"/>
            <a:ext cx="5219700" cy="351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1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incident</a:t>
            </a:r>
            <a:endParaRPr lang="en-US" sz="1710" dirty="0"/>
          </a:p>
        </p:txBody>
      </p:sp>
      <p:sp>
        <p:nvSpPr>
          <p:cNvPr id="12" name="Text 10"/>
          <p:cNvSpPr/>
          <p:nvPr/>
        </p:nvSpPr>
        <p:spPr>
          <a:xfrm>
            <a:off x="685800" y="4068066"/>
            <a:ext cx="5219700" cy="1562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Luis opens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signed in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 stores it under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+ path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Maya requests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gets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Luis's page</a:t>
            </a:r>
            <a:endParaRPr lang="en-US" sz="1824" dirty="0"/>
          </a:p>
        </p:txBody>
      </p:sp>
      <p:sp>
        <p:nvSpPr>
          <p:cNvPr id="13" name="Text 11"/>
          <p:cNvSpPr/>
          <p:nvPr/>
        </p:nvSpPr>
        <p:spPr>
          <a:xfrm>
            <a:off x="6286500" y="3629805"/>
            <a:ext cx="5219700" cy="351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1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rule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6286500" y="4068066"/>
            <a:ext cx="5219700" cy="1886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cache stores under a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host + path + query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Depends on anything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 the key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 Sharing leaks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Personalized →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browser only</a:t>
            </a:r>
            <a:endParaRPr lang="en-US" sz="1824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silent write (4 min) → cold call three students (4 min) → debrief (2 min)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215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should each of these be answered — and is it safe to share?</a:t>
            </a:r>
            <a:endParaRPr lang="en-US" sz="3696" dirty="0"/>
          </a:p>
        </p:txBody>
      </p:sp>
      <p:sp>
        <p:nvSpPr>
          <p:cNvPr id="10" name="Text 8"/>
          <p:cNvSpPr/>
          <p:nvPr/>
        </p:nvSpPr>
        <p:spPr>
          <a:xfrm>
            <a:off x="685800" y="3354098"/>
            <a:ext cx="10820400" cy="26127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1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4-second segment of episode 3 in 1080p, requested by 40,000 viewers tonight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CampusPulse's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/assets/index-C4c61eeb.js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built by Vite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CampusPulse's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identical for everyone, changes every few seconds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4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streaming app's "Continue watching" row for the signed-in viewer</a:t>
            </a:r>
            <a:endParaRPr lang="en-US" sz="2112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17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11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Block B does with this</a:t>
            </a:r>
            <a:endParaRPr lang="en-US" sz="4116" dirty="0"/>
          </a:p>
        </p:txBody>
      </p:sp>
      <p:sp>
        <p:nvSpPr>
          <p:cNvPr id="7" name="Text 5"/>
          <p:cNvSpPr/>
          <p:nvPr/>
        </p:nvSpPr>
        <p:spPr>
          <a:xfrm>
            <a:off x="685800" y="1743564"/>
            <a:ext cx="10820400" cy="4228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now know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copies live and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may be shared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 opens the stack: browser, service worker, React data cache, CDN, reverse proxy, Redis, database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 layer: what it is good at, a real product that implements it, and how it is invalidated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one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React + Node example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Vite build, Express headers, a Redis cache-aside, and invalidation on write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HW5 asks you to design that stack for your own CampusPulse and prove it works</a:t>
            </a:r>
            <a:endParaRPr lang="en-US" sz="2352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Continue with B/C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20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Blocks B and C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6916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94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Continue with Blocks B and C</a:t>
            </a:r>
            <a:endParaRPr lang="en-US" sz="3948" dirty="0"/>
          </a:p>
        </p:txBody>
      </p:sp>
      <p:sp>
        <p:nvSpPr>
          <p:cNvPr id="9" name="Text 7"/>
          <p:cNvSpPr/>
          <p:nvPr/>
        </p:nvSpPr>
        <p:spPr>
          <a:xfrm>
            <a:off x="685800" y="3713703"/>
            <a:ext cx="10820400" cy="16500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 Block B (caching technologies, layer by layer) and Block C (measure and observe), with their checkpoints and the break between them. The class closes with the guided lab, HW5 brief, and exit ticket in Block C.</a:t>
            </a:r>
            <a:endParaRPr lang="en-US" sz="225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DePaul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the world gets its bytes — Week 5 Block A</dc:title>
  <dc:subject>Points of presence, edge caches, and how Netflix, Disney+, and Max put video one hop from your living room</dc:subject>
  <dc:creator>Course staff</dc:creator>
  <cp:lastModifiedBy>Course staff</cp:lastModifiedBy>
  <cp:revision>1</cp:revision>
  <dcterms:created xsi:type="dcterms:W3CDTF">2026-10-04T22:48:20Z</dcterms:created>
  <dcterms:modified xsi:type="dcterms:W3CDTF">2026-10-04T22:48:20Z</dcterms:modified>
</cp:coreProperties>
</file>